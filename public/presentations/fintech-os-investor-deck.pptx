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ter" panose="020B0604020202020204" charset="0"/>
      <p:regular r:id="rId13"/>
    </p:embeddedFont>
    <p:embeddedFont>
      <p:font typeface="Inter Bold" panose="020B0604020202020204" charset="0"/>
      <p:regular r:id="rId14"/>
    </p:embeddedFont>
    <p:embeddedFont>
      <p:font typeface="Inter Medium" panose="020B0604020202020204" charset="0"/>
      <p:regular r:id="rId15"/>
    </p:embeddedFont>
    <p:embeddedFont>
      <p:font typeface="Inter Semi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065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t.me/Roman_cryptopro" TargetMode="External"/><Relationship Id="rId4" Type="http://schemas.openxmlformats.org/officeDocument/2006/relationships/hyperlink" Target="fintech-demo-three.vercel.ap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9525">
            <a:solidFill>
              <a:srgbClr val="0D766C">
                <a:alpha val="8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9525">
            <a:solidFill>
              <a:srgbClr val="0D766C">
                <a:alpha val="8000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9525">
            <a:solidFill>
              <a:srgbClr val="0D766C">
                <a:alpha val="8000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9525">
            <a:solidFill>
              <a:srgbClr val="0D766C">
                <a:alpha val="8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9525">
            <a:solidFill>
              <a:srgbClr val="0D766C">
                <a:alpha val="8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9525">
            <a:solidFill>
              <a:srgbClr val="0D766C">
                <a:alpha val="8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571500" y="3619500"/>
            <a:ext cx="8001000" cy="0"/>
          </a:xfrm>
          <a:prstGeom prst="line">
            <a:avLst/>
          </a:prstGeom>
          <a:noFill/>
          <a:ln w="19050">
            <a:solidFill>
              <a:srgbClr val="0D766C">
                <a:alpha val="25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657350" y="3562350"/>
            <a:ext cx="114300" cy="114300"/>
          </a:xfrm>
          <a:prstGeom prst="ellipse">
            <a:avLst/>
          </a:prstGeom>
          <a:solidFill>
            <a:srgbClr val="0D766C"/>
          </a:solidFill>
          <a:ln/>
        </p:spPr>
      </p:sp>
      <p:sp>
        <p:nvSpPr>
          <p:cNvPr id="10" name="Shape 8"/>
          <p:cNvSpPr/>
          <p:nvPr/>
        </p:nvSpPr>
        <p:spPr>
          <a:xfrm>
            <a:off x="1600200" y="3505200"/>
            <a:ext cx="228600" cy="228600"/>
          </a:xfrm>
          <a:prstGeom prst="ellipse">
            <a:avLst/>
          </a:prstGeom>
          <a:noFill/>
          <a:ln w="9525">
            <a:solidFill>
              <a:srgbClr val="0D766C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2350" y="3562350"/>
            <a:ext cx="114300" cy="114300"/>
          </a:xfrm>
          <a:prstGeom prst="ellipse">
            <a:avLst/>
          </a:prstGeom>
          <a:solidFill>
            <a:srgbClr val="1CA88A"/>
          </a:solidFill>
          <a:ln/>
        </p:spPr>
      </p:sp>
      <p:sp>
        <p:nvSpPr>
          <p:cNvPr id="12" name="Shape 10"/>
          <p:cNvSpPr/>
          <p:nvPr/>
        </p:nvSpPr>
        <p:spPr>
          <a:xfrm>
            <a:off x="3505200" y="3505200"/>
            <a:ext cx="228600" cy="228600"/>
          </a:xfrm>
          <a:prstGeom prst="ellipse">
            <a:avLst/>
          </a:prstGeom>
          <a:noFill/>
          <a:ln w="9525">
            <a:solidFill>
              <a:srgbClr val="1CA88A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67350" y="3562350"/>
            <a:ext cx="114300" cy="114300"/>
          </a:xfrm>
          <a:prstGeom prst="ellipse">
            <a:avLst/>
          </a:prstGeom>
          <a:solidFill>
            <a:srgbClr val="0D766C"/>
          </a:solidFill>
          <a:ln/>
        </p:spPr>
      </p:sp>
      <p:sp>
        <p:nvSpPr>
          <p:cNvPr id="14" name="Shape 12"/>
          <p:cNvSpPr/>
          <p:nvPr/>
        </p:nvSpPr>
        <p:spPr>
          <a:xfrm>
            <a:off x="5410200" y="3505200"/>
            <a:ext cx="228600" cy="228600"/>
          </a:xfrm>
          <a:prstGeom prst="ellipse">
            <a:avLst/>
          </a:prstGeom>
          <a:noFill/>
          <a:ln w="9525">
            <a:solidFill>
              <a:srgbClr val="0D766C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2350" y="3562350"/>
            <a:ext cx="114300" cy="114300"/>
          </a:xfrm>
          <a:prstGeom prst="ellipse">
            <a:avLst/>
          </a:prstGeom>
          <a:solidFill>
            <a:srgbClr val="1CA88A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0" y="3505200"/>
            <a:ext cx="228600" cy="228600"/>
          </a:xfrm>
          <a:prstGeom prst="ellipse">
            <a:avLst/>
          </a:prstGeom>
          <a:noFill/>
          <a:ln w="9525">
            <a:solidFill>
              <a:srgbClr val="1CA88A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14500" y="3048000"/>
            <a:ext cx="0" cy="457200"/>
          </a:xfrm>
          <a:prstGeom prst="line">
            <a:avLst/>
          </a:prstGeom>
          <a:noFill/>
          <a:ln w="9525">
            <a:solidFill>
              <a:srgbClr val="0D766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1685925" y="2981325"/>
            <a:ext cx="57150" cy="57150"/>
          </a:xfrm>
          <a:prstGeom prst="ellipse">
            <a:avLst/>
          </a:prstGeom>
          <a:solidFill>
            <a:srgbClr val="0D766C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524500" y="3733800"/>
            <a:ext cx="0" cy="457200"/>
          </a:xfrm>
          <a:prstGeom prst="line">
            <a:avLst/>
          </a:prstGeom>
          <a:noFill/>
          <a:ln w="9525">
            <a:solidFill>
              <a:srgbClr val="0D766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5495925" y="4200525"/>
            <a:ext cx="57150" cy="57150"/>
          </a:xfrm>
          <a:prstGeom prst="ellipse">
            <a:avLst/>
          </a:prstGeom>
          <a:solidFill>
            <a:srgbClr val="0D766C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429500" y="3048000"/>
            <a:ext cx="0" cy="457200"/>
          </a:xfrm>
          <a:prstGeom prst="line">
            <a:avLst/>
          </a:prstGeom>
          <a:noFill/>
          <a:ln w="9525">
            <a:solidFill>
              <a:srgbClr val="1CA88A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7400925" y="2981325"/>
            <a:ext cx="57150" cy="57150"/>
          </a:xfrm>
          <a:prstGeom prst="ellipse">
            <a:avLst/>
          </a:prstGeom>
          <a:solidFill>
            <a:srgbClr val="1CA88A">
              <a:alpha val="40000"/>
            </a:srgbClr>
          </a:solidFill>
          <a:ln/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950" y="3028950"/>
            <a:ext cx="1181100" cy="11811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71500" y="762000"/>
            <a:ext cx="5715000" cy="19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9" dirty="0">
                <a:solidFill>
                  <a:srgbClr val="1CA88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ИНВЕСТ-ПРЕЗЕНТАЦИЯ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71500" y="1130840"/>
            <a:ext cx="5715000" cy="1405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dirty="0">
                <a:solidFill>
                  <a:srgbClr val="FFFDF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Fintech OS</a:t>
            </a:r>
            <a:endParaRPr lang="en-US" sz="5400" dirty="0"/>
          </a:p>
        </p:txBody>
      </p:sp>
      <p:sp>
        <p:nvSpPr>
          <p:cNvPr id="26" name="Text 23"/>
          <p:cNvSpPr/>
          <p:nvPr/>
        </p:nvSpPr>
        <p:spPr>
          <a:xfrm>
            <a:off x="571500" y="2711585"/>
            <a:ext cx="4762500" cy="526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33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Платежная инфраструктура для управляемых финансовых операций</a:t>
            </a:r>
            <a:endParaRPr lang="en-US" sz="1533" dirty="0"/>
          </a:p>
        </p:txBody>
      </p:sp>
      <p:sp>
        <p:nvSpPr>
          <p:cNvPr id="27" name="Text 24"/>
          <p:cNvSpPr/>
          <p:nvPr/>
        </p:nvSpPr>
        <p:spPr>
          <a:xfrm>
            <a:off x="571500" y="4610100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5" kern="0" spc="6" dirty="0">
                <a:solidFill>
                  <a:srgbClr val="FFFDF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B2B-ИНФРАСТРУКТУРА</a:t>
            </a:r>
            <a:endParaRPr lang="en-US" sz="825" dirty="0"/>
          </a:p>
        </p:txBody>
      </p:sp>
      <p:sp>
        <p:nvSpPr>
          <p:cNvPr id="28" name="Shape 25"/>
          <p:cNvSpPr/>
          <p:nvPr/>
        </p:nvSpPr>
        <p:spPr>
          <a:xfrm>
            <a:off x="1981200" y="4686300"/>
            <a:ext cx="38100" cy="38100"/>
          </a:xfrm>
          <a:prstGeom prst="roundRect">
            <a:avLst>
              <a:gd name="adj" fmla="val 50000"/>
            </a:avLst>
          </a:prstGeom>
          <a:solidFill>
            <a:srgbClr val="0D766C">
              <a:alpha val="50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2247900" y="4610100"/>
            <a:ext cx="695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5" kern="0" spc="6" dirty="0">
                <a:solidFill>
                  <a:srgbClr val="FFFDF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SEED-РАУНД</a:t>
            </a:r>
            <a:endParaRPr lang="en-US" sz="825" dirty="0"/>
          </a:p>
        </p:txBody>
      </p:sp>
      <p:sp>
        <p:nvSpPr>
          <p:cNvPr id="30" name="Shape 27"/>
          <p:cNvSpPr/>
          <p:nvPr/>
        </p:nvSpPr>
        <p:spPr>
          <a:xfrm>
            <a:off x="3171825" y="4686300"/>
            <a:ext cx="38100" cy="38100"/>
          </a:xfrm>
          <a:prstGeom prst="roundRect">
            <a:avLst>
              <a:gd name="adj" fmla="val 50000"/>
            </a:avLst>
          </a:prstGeom>
          <a:solidFill>
            <a:srgbClr val="0D766C">
              <a:alpha val="50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3438525" y="4610100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5" kern="0" spc="6" dirty="0">
                <a:solidFill>
                  <a:srgbClr val="FFFDF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 КВ. 2026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8382000" y="4667250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381000"/>
            <a:ext cx="4762500" cy="187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kern="0" spc="8" dirty="0">
                <a:solidFill>
                  <a:srgbClr val="0D766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01 ИНВЕСТИЦИОННЫЙ ТЕЗИС</a:t>
            </a:r>
            <a:endParaRPr lang="en-US" sz="975" dirty="0"/>
          </a:p>
        </p:txBody>
      </p:sp>
      <p:sp>
        <p:nvSpPr>
          <p:cNvPr id="4" name="Text 1"/>
          <p:cNvSpPr/>
          <p:nvPr/>
        </p:nvSpPr>
        <p:spPr>
          <a:xfrm>
            <a:off x="533400" y="681182"/>
            <a:ext cx="4762500" cy="938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5231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Платежный поток становится инфраструктурой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33400" y="1666875"/>
            <a:ext cx="419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47" dirty="0">
                <a:solidFill>
                  <a:srgbClr val="4A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B2B-клиентам нужен прозрачный слой управления оборотом, рисками и отчетностью.</a:t>
            </a:r>
            <a:endParaRPr lang="en-US" sz="1247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2362200"/>
            <a:ext cx="1460500" cy="1181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" y="2533650"/>
            <a:ext cx="111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5231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Деньги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85800" y="2838450"/>
            <a:ext cx="1117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14" dirty="0">
                <a:solidFill>
                  <a:srgbClr val="4A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Балансы и hold видны сразу. Понятно, где средства.</a:t>
            </a:r>
            <a:endParaRPr lang="en-US" sz="914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9150" y="2362200"/>
            <a:ext cx="1460500" cy="11811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60600" y="2533650"/>
            <a:ext cx="111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5231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Операции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2260600" y="2838450"/>
            <a:ext cx="1117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14" dirty="0">
                <a:solidFill>
                  <a:srgbClr val="4A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Статусы и SLA показывают узкие места процесса.</a:t>
            </a:r>
            <a:endParaRPr lang="en-US" sz="914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950" y="2362200"/>
            <a:ext cx="1460500" cy="11811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835400" y="2533650"/>
            <a:ext cx="111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5231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Риски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3835400" y="2838450"/>
            <a:ext cx="1117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14" dirty="0">
                <a:solidFill>
                  <a:srgbClr val="4A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Лимиты и аудит контролируют действия и доступы.</a:t>
            </a:r>
            <a:endParaRPr lang="en-US" sz="914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0200" y="361950"/>
            <a:ext cx="3371850" cy="34671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695950" y="647700"/>
            <a:ext cx="2800350" cy="147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6" kern="0" spc="6" dirty="0">
                <a:solidFill>
                  <a:srgbClr val="1CA88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БОЛЬ РЫНКА</a:t>
            </a:r>
            <a:endParaRPr lang="en-US" sz="966" dirty="0"/>
          </a:p>
        </p:txBody>
      </p:sp>
      <p:sp>
        <p:nvSpPr>
          <p:cNvPr id="17" name="Text 10"/>
          <p:cNvSpPr/>
          <p:nvPr/>
        </p:nvSpPr>
        <p:spPr>
          <a:xfrm>
            <a:off x="5695950" y="958527"/>
            <a:ext cx="2800350" cy="179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79" dirty="0">
                <a:solidFill>
                  <a:srgbClr val="FFFDF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Фрагментация</a:t>
            </a:r>
            <a:endParaRPr lang="en-US" sz="1179" dirty="0"/>
          </a:p>
        </p:txBody>
      </p:sp>
      <p:sp>
        <p:nvSpPr>
          <p:cNvPr id="18" name="Text 11"/>
          <p:cNvSpPr/>
          <p:nvPr/>
        </p:nvSpPr>
        <p:spPr>
          <a:xfrm>
            <a:off x="5695950" y="1187558"/>
            <a:ext cx="2800350" cy="294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8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Ордера, выплаты и споры ведутся в разных системах</a:t>
            </a:r>
            <a:endParaRPr lang="en-US" sz="858" dirty="0"/>
          </a:p>
        </p:txBody>
      </p:sp>
      <p:sp>
        <p:nvSpPr>
          <p:cNvPr id="19" name="Text 12"/>
          <p:cNvSpPr/>
          <p:nvPr/>
        </p:nvSpPr>
        <p:spPr>
          <a:xfrm>
            <a:off x="5695950" y="1645619"/>
            <a:ext cx="2800350" cy="179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79" dirty="0">
                <a:solidFill>
                  <a:srgbClr val="FFFDF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Низкая прозрачность</a:t>
            </a:r>
            <a:endParaRPr lang="en-US" sz="1179" dirty="0"/>
          </a:p>
        </p:txBody>
      </p:sp>
      <p:sp>
        <p:nvSpPr>
          <p:cNvPr id="20" name="Text 13"/>
          <p:cNvSpPr/>
          <p:nvPr/>
        </p:nvSpPr>
        <p:spPr>
          <a:xfrm>
            <a:off x="5695950" y="1874649"/>
            <a:ext cx="2800350" cy="294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8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Сложно объяснить, где деньги и почему изменился баланс</a:t>
            </a:r>
            <a:endParaRPr lang="en-US" sz="858" dirty="0"/>
          </a:p>
        </p:txBody>
      </p:sp>
      <p:sp>
        <p:nvSpPr>
          <p:cNvPr id="21" name="Text 14"/>
          <p:cNvSpPr/>
          <p:nvPr/>
        </p:nvSpPr>
        <p:spPr>
          <a:xfrm>
            <a:off x="5695950" y="2332710"/>
            <a:ext cx="2800350" cy="179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79" dirty="0">
                <a:solidFill>
                  <a:srgbClr val="FFFDF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Операционный риск</a:t>
            </a:r>
            <a:endParaRPr lang="en-US" sz="1179" dirty="0"/>
          </a:p>
        </p:txBody>
      </p:sp>
      <p:sp>
        <p:nvSpPr>
          <p:cNvPr id="22" name="Text 15"/>
          <p:cNvSpPr/>
          <p:nvPr/>
        </p:nvSpPr>
        <p:spPr>
          <a:xfrm>
            <a:off x="5695950" y="2561741"/>
            <a:ext cx="2800350" cy="294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8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Ошибки статуса, лимита или роли влияют на выручку</a:t>
            </a:r>
            <a:endParaRPr lang="en-US" sz="858" dirty="0"/>
          </a:p>
        </p:txBody>
      </p:sp>
      <p:sp>
        <p:nvSpPr>
          <p:cNvPr id="23" name="Text 16"/>
          <p:cNvSpPr/>
          <p:nvPr/>
        </p:nvSpPr>
        <p:spPr>
          <a:xfrm>
            <a:off x="5695950" y="3019802"/>
            <a:ext cx="2800350" cy="179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79" dirty="0">
                <a:solidFill>
                  <a:srgbClr val="FFFDF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Спрос на автоматизацию</a:t>
            </a:r>
            <a:endParaRPr lang="en-US" sz="1179" dirty="0"/>
          </a:p>
        </p:txBody>
      </p:sp>
      <p:sp>
        <p:nvSpPr>
          <p:cNvPr id="24" name="Text 17"/>
          <p:cNvSpPr/>
          <p:nvPr/>
        </p:nvSpPr>
        <p:spPr>
          <a:xfrm>
            <a:off x="5695950" y="3248832"/>
            <a:ext cx="2800350" cy="294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8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Рынок переходит к единым кабинетам, API и управляемым процессам</a:t>
            </a:r>
            <a:endParaRPr lang="en-US" sz="858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" y="3790950"/>
            <a:ext cx="4610100" cy="99060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723900" y="4000500"/>
            <a:ext cx="38100" cy="571500"/>
          </a:xfrm>
          <a:prstGeom prst="roundRect">
            <a:avLst>
              <a:gd name="adj" fmla="val 50000"/>
            </a:avLst>
          </a:prstGeom>
          <a:solidFill>
            <a:srgbClr val="0D766C"/>
          </a:solidFill>
          <a:ln/>
        </p:spPr>
      </p:sp>
      <p:sp>
        <p:nvSpPr>
          <p:cNvPr id="27" name="Text 19"/>
          <p:cNvSpPr/>
          <p:nvPr/>
        </p:nvSpPr>
        <p:spPr>
          <a:xfrm>
            <a:off x="914400" y="4000500"/>
            <a:ext cx="4000500" cy="154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13" dirty="0">
                <a:solidFill>
                  <a:srgbClr val="0D766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Интерес инвестора</a:t>
            </a:r>
            <a:endParaRPr lang="en-US" sz="1013" dirty="0"/>
          </a:p>
        </p:txBody>
      </p:sp>
      <p:sp>
        <p:nvSpPr>
          <p:cNvPr id="28" name="Text 20"/>
          <p:cNvSpPr/>
          <p:nvPr/>
        </p:nvSpPr>
        <p:spPr>
          <a:xfrm>
            <a:off x="914400" y="4201297"/>
            <a:ext cx="4000500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79" dirty="0">
                <a:solidFill>
                  <a:srgbClr val="4A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Понятная комиссия, растущий оборот, управляемые риски и рабочий демо-продукт.</a:t>
            </a:r>
            <a:endParaRPr lang="en-US" sz="1079" dirty="0"/>
          </a:p>
        </p:txBody>
      </p:sp>
      <p:sp>
        <p:nvSpPr>
          <p:cNvPr id="29" name="Text 21"/>
          <p:cNvSpPr/>
          <p:nvPr/>
        </p:nvSpPr>
        <p:spPr>
          <a:xfrm>
            <a:off x="8382000" y="4762500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810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kern="0" spc="8" dirty="0">
                <a:solidFill>
                  <a:srgbClr val="0D766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 ПРОДУКТ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533400" y="819150"/>
            <a:ext cx="3810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43" dirty="0">
                <a:solidFill>
                  <a:srgbClr val="15231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Fintech OS связывает участников, операции и деньги</a:t>
            </a:r>
            <a:endParaRPr lang="en-US" sz="2043" dirty="0"/>
          </a:p>
        </p:txBody>
      </p:sp>
      <p:sp>
        <p:nvSpPr>
          <p:cNvPr id="4" name="Text 2"/>
          <p:cNvSpPr/>
          <p:nvPr/>
        </p:nvSpPr>
        <p:spPr>
          <a:xfrm>
            <a:off x="533400" y="1809750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85" dirty="0">
                <a:solidFill>
                  <a:srgbClr val="4A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 каждой операции есть владелец, статус, финансовый след, связи и запись аудита.</a:t>
            </a:r>
            <a:endParaRPr lang="en-US" sz="1285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2505075"/>
            <a:ext cx="952500" cy="4191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628900"/>
            <a:ext cx="60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5" dirty="0">
                <a:solidFill>
                  <a:srgbClr val="FFFDF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Мерчант</a:t>
            </a:r>
            <a:endParaRPr lang="en-US" sz="765" dirty="0"/>
          </a:p>
        </p:txBody>
      </p:sp>
      <p:sp>
        <p:nvSpPr>
          <p:cNvPr id="7" name="Shape 4"/>
          <p:cNvSpPr/>
          <p:nvPr/>
        </p:nvSpPr>
        <p:spPr>
          <a:xfrm>
            <a:off x="1562100" y="2714625"/>
            <a:ext cx="190500" cy="0"/>
          </a:xfrm>
          <a:prstGeom prst="line">
            <a:avLst/>
          </a:prstGeom>
          <a:noFill/>
          <a:ln w="19050">
            <a:solidFill>
              <a:srgbClr val="0D766C"/>
            </a:solidFill>
            <a:prstDash val="solid"/>
            <a:headEnd type="none"/>
            <a:tailEnd type="triangle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7850" y="2505075"/>
            <a:ext cx="714375" cy="4191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19300" y="2628900"/>
            <a:ext cx="371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5" dirty="0">
                <a:solidFill>
                  <a:srgbClr val="FFFDF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Ордер</a:t>
            </a:r>
            <a:endParaRPr lang="en-US" sz="765" dirty="0"/>
          </a:p>
        </p:txBody>
      </p:sp>
      <p:sp>
        <p:nvSpPr>
          <p:cNvPr id="10" name="Shape 6"/>
          <p:cNvSpPr/>
          <p:nvPr/>
        </p:nvSpPr>
        <p:spPr>
          <a:xfrm>
            <a:off x="2657475" y="2714625"/>
            <a:ext cx="190500" cy="0"/>
          </a:xfrm>
          <a:prstGeom prst="line">
            <a:avLst/>
          </a:prstGeom>
          <a:noFill/>
          <a:ln w="19050">
            <a:solidFill>
              <a:srgbClr val="1CA88A"/>
            </a:solidFill>
            <a:prstDash val="solid"/>
            <a:headEnd type="none"/>
            <a:tailEnd type="triangle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3225" y="2505075"/>
            <a:ext cx="1038225" cy="4191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114675" y="2628900"/>
            <a:ext cx="6953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5" dirty="0">
                <a:solidFill>
                  <a:srgbClr val="FFFDF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Инструмент</a:t>
            </a:r>
            <a:endParaRPr lang="en-US" sz="765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" y="3028950"/>
            <a:ext cx="818768" cy="4191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5800" y="3152775"/>
            <a:ext cx="4758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5" dirty="0">
                <a:solidFill>
                  <a:srgbClr val="FFFDF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Оператор</a:t>
            </a:r>
            <a:endParaRPr lang="en-US" sz="765" dirty="0"/>
          </a:p>
        </p:txBody>
      </p:sp>
      <p:sp>
        <p:nvSpPr>
          <p:cNvPr id="15" name="Shape 9"/>
          <p:cNvSpPr/>
          <p:nvPr/>
        </p:nvSpPr>
        <p:spPr>
          <a:xfrm>
            <a:off x="1415894" y="3238500"/>
            <a:ext cx="190500" cy="0"/>
          </a:xfrm>
          <a:prstGeom prst="line">
            <a:avLst/>
          </a:prstGeom>
          <a:noFill/>
          <a:ln w="19050">
            <a:solidFill>
              <a:srgbClr val="0D766C"/>
            </a:solidFill>
            <a:prstDash val="solid"/>
            <a:headEnd type="none"/>
            <a:tailEnd type="triangle"/>
          </a:ln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8381" y="3028950"/>
            <a:ext cx="750884" cy="4191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839831" y="3152775"/>
            <a:ext cx="4079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5" dirty="0">
                <a:solidFill>
                  <a:srgbClr val="FFFDF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Баланс</a:t>
            </a:r>
            <a:endParaRPr lang="en-US" sz="765" dirty="0"/>
          </a:p>
        </p:txBody>
      </p:sp>
      <p:sp>
        <p:nvSpPr>
          <p:cNvPr id="18" name="Shape 11"/>
          <p:cNvSpPr/>
          <p:nvPr/>
        </p:nvSpPr>
        <p:spPr>
          <a:xfrm>
            <a:off x="2502041" y="3238500"/>
            <a:ext cx="190500" cy="0"/>
          </a:xfrm>
          <a:prstGeom prst="line">
            <a:avLst/>
          </a:prstGeom>
          <a:noFill/>
          <a:ln w="19050">
            <a:solidFill>
              <a:srgbClr val="1CA88A"/>
            </a:solidFill>
            <a:prstDash val="solid"/>
            <a:headEnd type="none"/>
            <a:tailEnd type="triangle"/>
          </a:ln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54528" y="3028950"/>
            <a:ext cx="683000" cy="4191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2925978" y="3152775"/>
            <a:ext cx="340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5" dirty="0">
                <a:solidFill>
                  <a:srgbClr val="FFFDF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Выплата</a:t>
            </a:r>
            <a:endParaRPr lang="en-US" sz="765" dirty="0"/>
          </a:p>
        </p:txBody>
      </p:sp>
      <p:sp>
        <p:nvSpPr>
          <p:cNvPr id="21" name="Shape 13"/>
          <p:cNvSpPr/>
          <p:nvPr/>
        </p:nvSpPr>
        <p:spPr>
          <a:xfrm>
            <a:off x="3520304" y="3238500"/>
            <a:ext cx="190500" cy="0"/>
          </a:xfrm>
          <a:prstGeom prst="line">
            <a:avLst/>
          </a:prstGeom>
          <a:noFill/>
          <a:ln w="19050">
            <a:solidFill>
              <a:srgbClr val="0D766C"/>
            </a:solidFill>
            <a:prstDash val="solid"/>
            <a:headEnd type="none"/>
            <a:tailEnd type="triangle"/>
          </a:ln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72791" y="3028950"/>
            <a:ext cx="589659" cy="4191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944241" y="3152775"/>
            <a:ext cx="2467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5" dirty="0">
                <a:solidFill>
                  <a:srgbClr val="FFFDF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Аудит</a:t>
            </a:r>
            <a:endParaRPr lang="en-US" sz="765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3950" y="361950"/>
            <a:ext cx="3848100" cy="42291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219700" y="647700"/>
            <a:ext cx="3276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kern="0" spc="6" dirty="0">
                <a:solidFill>
                  <a:srgbClr val="1CA88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МОДУЛИ ПЛАТФОРМЫ</a:t>
            </a:r>
            <a:endParaRPr lang="en-US" sz="975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00650" y="952500"/>
            <a:ext cx="1628775" cy="457200"/>
          </a:xfrm>
          <a:prstGeom prst="rect">
            <a:avLst/>
          </a:prstGeom>
        </p:spPr>
      </p:pic>
      <p:sp>
        <p:nvSpPr>
          <p:cNvPr id="27" name="Shape 16"/>
          <p:cNvSpPr/>
          <p:nvPr/>
        </p:nvSpPr>
        <p:spPr>
          <a:xfrm>
            <a:off x="5372100" y="1143000"/>
            <a:ext cx="76200" cy="76200"/>
          </a:xfrm>
          <a:prstGeom prst="ellipse">
            <a:avLst/>
          </a:prstGeom>
          <a:solidFill>
            <a:srgbClr val="1CA88A"/>
          </a:solidFill>
          <a:ln/>
        </p:spPr>
      </p:sp>
      <p:sp>
        <p:nvSpPr>
          <p:cNvPr id="28" name="Text 17"/>
          <p:cNvSpPr/>
          <p:nvPr/>
        </p:nvSpPr>
        <p:spPr>
          <a:xfrm>
            <a:off x="5543550" y="1085850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DF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Панель</a:t>
            </a:r>
            <a:endParaRPr lang="en-US" sz="105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86575" y="952500"/>
            <a:ext cx="1628775" cy="457200"/>
          </a:xfrm>
          <a:prstGeom prst="rect">
            <a:avLst/>
          </a:prstGeom>
        </p:spPr>
      </p:pic>
      <p:sp>
        <p:nvSpPr>
          <p:cNvPr id="30" name="Shape 18"/>
          <p:cNvSpPr/>
          <p:nvPr/>
        </p:nvSpPr>
        <p:spPr>
          <a:xfrm>
            <a:off x="7058025" y="1143000"/>
            <a:ext cx="76200" cy="76200"/>
          </a:xfrm>
          <a:prstGeom prst="ellipse">
            <a:avLst/>
          </a:prstGeom>
          <a:solidFill>
            <a:srgbClr val="1CA88A"/>
          </a:solidFill>
          <a:ln/>
        </p:spPr>
      </p:sp>
      <p:sp>
        <p:nvSpPr>
          <p:cNvPr id="31" name="Text 19"/>
          <p:cNvSpPr/>
          <p:nvPr/>
        </p:nvSpPr>
        <p:spPr>
          <a:xfrm>
            <a:off x="7229475" y="1085850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DF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Ордера</a:t>
            </a:r>
            <a:endParaRPr lang="en-US" sz="105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00650" y="1524000"/>
            <a:ext cx="1628775" cy="457200"/>
          </a:xfrm>
          <a:prstGeom prst="rect">
            <a:avLst/>
          </a:prstGeom>
        </p:spPr>
      </p:pic>
      <p:sp>
        <p:nvSpPr>
          <p:cNvPr id="33" name="Shape 20"/>
          <p:cNvSpPr/>
          <p:nvPr/>
        </p:nvSpPr>
        <p:spPr>
          <a:xfrm>
            <a:off x="5372100" y="1714500"/>
            <a:ext cx="76200" cy="76200"/>
          </a:xfrm>
          <a:prstGeom prst="ellipse">
            <a:avLst/>
          </a:prstGeom>
          <a:solidFill>
            <a:srgbClr val="1CA88A"/>
          </a:solidFill>
          <a:ln/>
        </p:spPr>
      </p:sp>
      <p:sp>
        <p:nvSpPr>
          <p:cNvPr id="34" name="Text 21"/>
          <p:cNvSpPr/>
          <p:nvPr/>
        </p:nvSpPr>
        <p:spPr>
          <a:xfrm>
            <a:off x="5543550" y="1657350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DF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Выплаты</a:t>
            </a:r>
            <a:endParaRPr lang="en-US" sz="1050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86575" y="1524000"/>
            <a:ext cx="1628775" cy="457200"/>
          </a:xfrm>
          <a:prstGeom prst="rect">
            <a:avLst/>
          </a:prstGeom>
        </p:spPr>
      </p:pic>
      <p:sp>
        <p:nvSpPr>
          <p:cNvPr id="36" name="Shape 22"/>
          <p:cNvSpPr/>
          <p:nvPr/>
        </p:nvSpPr>
        <p:spPr>
          <a:xfrm>
            <a:off x="7058025" y="1714500"/>
            <a:ext cx="76200" cy="76200"/>
          </a:xfrm>
          <a:prstGeom prst="ellipse">
            <a:avLst/>
          </a:prstGeom>
          <a:solidFill>
            <a:srgbClr val="1CA88A"/>
          </a:solidFill>
          <a:ln/>
        </p:spPr>
      </p:sp>
      <p:sp>
        <p:nvSpPr>
          <p:cNvPr id="37" name="Text 23"/>
          <p:cNvSpPr/>
          <p:nvPr/>
        </p:nvSpPr>
        <p:spPr>
          <a:xfrm>
            <a:off x="7229475" y="1657350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DF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Реквизиты</a:t>
            </a:r>
            <a:endParaRPr lang="en-US" sz="1050" dirty="0"/>
          </a:p>
        </p:txBody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00650" y="2095500"/>
            <a:ext cx="1628775" cy="457200"/>
          </a:xfrm>
          <a:prstGeom prst="rect">
            <a:avLst/>
          </a:prstGeom>
        </p:spPr>
      </p:pic>
      <p:sp>
        <p:nvSpPr>
          <p:cNvPr id="39" name="Shape 24"/>
          <p:cNvSpPr/>
          <p:nvPr/>
        </p:nvSpPr>
        <p:spPr>
          <a:xfrm>
            <a:off x="5372100" y="2286000"/>
            <a:ext cx="76200" cy="76200"/>
          </a:xfrm>
          <a:prstGeom prst="ellipse">
            <a:avLst/>
          </a:prstGeom>
          <a:solidFill>
            <a:srgbClr val="1CA88A"/>
          </a:solidFill>
          <a:ln/>
        </p:spPr>
      </p:sp>
      <p:sp>
        <p:nvSpPr>
          <p:cNvPr id="40" name="Text 25"/>
          <p:cNvSpPr/>
          <p:nvPr/>
        </p:nvSpPr>
        <p:spPr>
          <a:xfrm>
            <a:off x="5543550" y="2228850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DF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Балансы</a:t>
            </a:r>
            <a:endParaRPr lang="en-US" sz="1050" dirty="0"/>
          </a:p>
        </p:txBody>
      </p:sp>
      <p:pic>
        <p:nvPicPr>
          <p:cNvPr id="41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86575" y="2095500"/>
            <a:ext cx="1628775" cy="457200"/>
          </a:xfrm>
          <a:prstGeom prst="rect">
            <a:avLst/>
          </a:prstGeom>
        </p:spPr>
      </p:pic>
      <p:sp>
        <p:nvSpPr>
          <p:cNvPr id="42" name="Shape 26"/>
          <p:cNvSpPr/>
          <p:nvPr/>
        </p:nvSpPr>
        <p:spPr>
          <a:xfrm>
            <a:off x="7058025" y="2286000"/>
            <a:ext cx="76200" cy="76200"/>
          </a:xfrm>
          <a:prstGeom prst="ellipse">
            <a:avLst/>
          </a:prstGeom>
          <a:solidFill>
            <a:srgbClr val="1CA88A"/>
          </a:solidFill>
          <a:ln/>
        </p:spPr>
      </p:sp>
      <p:sp>
        <p:nvSpPr>
          <p:cNvPr id="43" name="Text 27"/>
          <p:cNvSpPr/>
          <p:nvPr/>
        </p:nvSpPr>
        <p:spPr>
          <a:xfrm>
            <a:off x="7229475" y="2228850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DF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Споры</a:t>
            </a:r>
            <a:endParaRPr lang="en-US" sz="1050" dirty="0"/>
          </a:p>
        </p:txBody>
      </p:sp>
      <p:pic>
        <p:nvPicPr>
          <p:cNvPr id="44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00650" y="2667000"/>
            <a:ext cx="1628775" cy="457200"/>
          </a:xfrm>
          <a:prstGeom prst="rect">
            <a:avLst/>
          </a:prstGeom>
        </p:spPr>
      </p:pic>
      <p:sp>
        <p:nvSpPr>
          <p:cNvPr id="45" name="Shape 28"/>
          <p:cNvSpPr/>
          <p:nvPr/>
        </p:nvSpPr>
        <p:spPr>
          <a:xfrm>
            <a:off x="5372100" y="2857500"/>
            <a:ext cx="76200" cy="76200"/>
          </a:xfrm>
          <a:prstGeom prst="ellipse">
            <a:avLst/>
          </a:prstGeom>
          <a:solidFill>
            <a:srgbClr val="1CA88A"/>
          </a:solidFill>
          <a:ln/>
        </p:spPr>
      </p:sp>
      <p:sp>
        <p:nvSpPr>
          <p:cNvPr id="46" name="Text 29"/>
          <p:cNvSpPr/>
          <p:nvPr/>
        </p:nvSpPr>
        <p:spPr>
          <a:xfrm>
            <a:off x="5543550" y="2800350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DF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API и webhooks</a:t>
            </a:r>
            <a:endParaRPr lang="en-US" sz="1050" dirty="0"/>
          </a:p>
        </p:txBody>
      </p:sp>
      <p:pic>
        <p:nvPicPr>
          <p:cNvPr id="4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86575" y="2667000"/>
            <a:ext cx="1628775" cy="457200"/>
          </a:xfrm>
          <a:prstGeom prst="rect">
            <a:avLst/>
          </a:prstGeom>
        </p:spPr>
      </p:pic>
      <p:sp>
        <p:nvSpPr>
          <p:cNvPr id="48" name="Shape 30"/>
          <p:cNvSpPr/>
          <p:nvPr/>
        </p:nvSpPr>
        <p:spPr>
          <a:xfrm>
            <a:off x="7058025" y="2857500"/>
            <a:ext cx="76200" cy="76200"/>
          </a:xfrm>
          <a:prstGeom prst="ellipse">
            <a:avLst/>
          </a:prstGeom>
          <a:solidFill>
            <a:srgbClr val="1CA88A"/>
          </a:solidFill>
          <a:ln/>
        </p:spPr>
      </p:sp>
      <p:sp>
        <p:nvSpPr>
          <p:cNvPr id="49" name="Text 31"/>
          <p:cNvSpPr/>
          <p:nvPr/>
        </p:nvSpPr>
        <p:spPr>
          <a:xfrm>
            <a:off x="7229475" y="2800350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DF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Отчеты</a:t>
            </a:r>
            <a:endParaRPr lang="en-US" sz="1050" dirty="0"/>
          </a:p>
        </p:txBody>
      </p:sp>
      <p:sp>
        <p:nvSpPr>
          <p:cNvPr id="50" name="Shape 32"/>
          <p:cNvSpPr/>
          <p:nvPr/>
        </p:nvSpPr>
        <p:spPr>
          <a:xfrm>
            <a:off x="5219700" y="3257550"/>
            <a:ext cx="3276600" cy="9525"/>
          </a:xfrm>
          <a:prstGeom prst="rect">
            <a:avLst/>
          </a:prstGeom>
          <a:solidFill>
            <a:srgbClr val="FFFDF9">
              <a:alpha val="10000"/>
            </a:srgbClr>
          </a:solidFill>
          <a:ln/>
        </p:spPr>
      </p:sp>
      <p:sp>
        <p:nvSpPr>
          <p:cNvPr id="51" name="Text 33"/>
          <p:cNvSpPr/>
          <p:nvPr/>
        </p:nvSpPr>
        <p:spPr>
          <a:xfrm>
            <a:off x="5219700" y="3419475"/>
            <a:ext cx="3276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Единый слой контроля заменяет таблицы, чаты и ручные сверки.</a:t>
            </a:r>
            <a:endParaRPr lang="en-US" sz="1125" dirty="0"/>
          </a:p>
        </p:txBody>
      </p:sp>
      <p:pic>
        <p:nvPicPr>
          <p:cNvPr id="52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4350" y="3790950"/>
            <a:ext cx="3848100" cy="800100"/>
          </a:xfrm>
          <a:prstGeom prst="rect">
            <a:avLst/>
          </a:prstGeom>
        </p:spPr>
      </p:pic>
      <p:sp>
        <p:nvSpPr>
          <p:cNvPr id="53" name="Text 34"/>
          <p:cNvSpPr/>
          <p:nvPr/>
        </p:nvSpPr>
        <p:spPr>
          <a:xfrm>
            <a:off x="723900" y="4000500"/>
            <a:ext cx="3429000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766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Ключевая ценность: контроль</a:t>
            </a:r>
            <a:endParaRPr lang="en-US" sz="1050" dirty="0"/>
          </a:p>
        </p:txBody>
      </p:sp>
      <p:sp>
        <p:nvSpPr>
          <p:cNvPr id="54" name="Text 35"/>
          <p:cNvSpPr/>
          <p:nvPr/>
        </p:nvSpPr>
        <p:spPr>
          <a:xfrm>
            <a:off x="723900" y="4208318"/>
            <a:ext cx="3429000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Статусы, лимиты, роли и аудит в одном контуре</a:t>
            </a:r>
            <a:endParaRPr lang="en-US" sz="1050" dirty="0"/>
          </a:p>
        </p:txBody>
      </p:sp>
      <p:sp>
        <p:nvSpPr>
          <p:cNvPr id="55" name="Text 36"/>
          <p:cNvSpPr/>
          <p:nvPr/>
        </p:nvSpPr>
        <p:spPr>
          <a:xfrm>
            <a:off x="8382000" y="4762500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8100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kern="0" spc="8" dirty="0">
                <a:solidFill>
                  <a:srgbClr val="0D766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03 КОНТРОЛЬ И КОМПЛАЕНС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533400" y="685800"/>
            <a:ext cx="4762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8" dirty="0">
                <a:solidFill>
                  <a:srgbClr val="15231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Оборотная мощность должна расти с контролем</a:t>
            </a:r>
            <a:endParaRPr lang="en-US" sz="2208" dirty="0"/>
          </a:p>
        </p:txBody>
      </p:sp>
      <p:sp>
        <p:nvSpPr>
          <p:cNvPr id="4" name="Text 2"/>
          <p:cNvSpPr/>
          <p:nvPr/>
        </p:nvSpPr>
        <p:spPr>
          <a:xfrm>
            <a:off x="533400" y="142875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77" dirty="0">
                <a:solidFill>
                  <a:srgbClr val="4A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Платформа управляет платежным потоком в рамках договоров, KYC/AML, лимитов и отчетности.</a:t>
            </a:r>
            <a:endParaRPr lang="en-US" sz="1177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2076450"/>
            <a:ext cx="2628900" cy="12763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3950" y="2333625"/>
            <a:ext cx="1809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5231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KYC / AML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23900" y="2686050"/>
            <a:ext cx="220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Проверка участников и правил обработки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7550" y="2076450"/>
            <a:ext cx="2628900" cy="12763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67150" y="2333625"/>
            <a:ext cx="1809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5231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Лимиты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467100" y="2686050"/>
            <a:ext cx="220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Контроль емкости и нагрузки по мерчантам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750" y="2076450"/>
            <a:ext cx="2628900" cy="12763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610350" y="2333625"/>
            <a:ext cx="1809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5231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Роли и доступы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210300" y="2686050"/>
            <a:ext cx="220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Разделение админских, финансовых и операционных действий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" y="3467100"/>
            <a:ext cx="2628900" cy="12763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23950" y="3724275"/>
            <a:ext cx="1809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5231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Журнал аудита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723900" y="4076700"/>
            <a:ext cx="220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Кто, когда и почему изменил статус или баланс</a:t>
            </a:r>
            <a:endParaRPr lang="en-US" sz="10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7550" y="3467100"/>
            <a:ext cx="2628900" cy="12763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867150" y="3724275"/>
            <a:ext cx="1809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5231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Очередь риска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3467100" y="4076700"/>
            <a:ext cx="220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Операции на проверке и спорные кейсы</a:t>
            </a:r>
            <a:endParaRPr lang="en-US" sz="10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0" y="3467100"/>
            <a:ext cx="2628900" cy="127635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610350" y="3724275"/>
            <a:ext cx="1809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5231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Отчетность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6210300" y="4076700"/>
            <a:ext cx="220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Понятная финансовая картина для клиентов и партнеров</a:t>
            </a:r>
            <a:endParaRPr lang="en-US" sz="1050" dirty="0"/>
          </a:p>
        </p:txBody>
      </p:sp>
      <p:sp>
        <p:nvSpPr>
          <p:cNvPr id="23" name="Text 15"/>
          <p:cNvSpPr/>
          <p:nvPr/>
        </p:nvSpPr>
        <p:spPr>
          <a:xfrm>
            <a:off x="8382000" y="4762500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810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kern="0" spc="8" dirty="0">
                <a:solidFill>
                  <a:srgbClr val="0D766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04 БИЗНЕС-МОДЕЛЬ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533400" y="647700"/>
            <a:ext cx="476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81" dirty="0">
                <a:solidFill>
                  <a:srgbClr val="15231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Монетизация: оборот и корпоративные сервисы</a:t>
            </a:r>
            <a:endParaRPr lang="en-US" sz="2381" dirty="0"/>
          </a:p>
        </p:txBody>
      </p:sp>
      <p:sp>
        <p:nvSpPr>
          <p:cNvPr id="4" name="Text 2"/>
          <p:cNvSpPr/>
          <p:nvPr/>
        </p:nvSpPr>
        <p:spPr>
          <a:xfrm>
            <a:off x="533400" y="140970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2" dirty="0">
                <a:solidFill>
                  <a:srgbClr val="4A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Платформа зарабатывает комиссию с оборота и B2B-сервисы: лицензия, внедрение, SLA, интеграции.</a:t>
            </a:r>
            <a:endParaRPr lang="en-US" sz="962" dirty="0"/>
          </a:p>
        </p:txBody>
      </p:sp>
      <p:sp>
        <p:nvSpPr>
          <p:cNvPr id="5" name="Shape 3"/>
          <p:cNvSpPr/>
          <p:nvPr/>
        </p:nvSpPr>
        <p:spPr>
          <a:xfrm>
            <a:off x="533400" y="1905000"/>
            <a:ext cx="4000500" cy="533400"/>
          </a:xfrm>
          <a:prstGeom prst="roundRect">
            <a:avLst>
              <a:gd name="adj" fmla="val 17857"/>
            </a:avLst>
          </a:prstGeom>
          <a:solidFill>
            <a:srgbClr val="0D766C">
              <a:alpha val="6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23900" y="2000250"/>
            <a:ext cx="3619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5231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Комиссия с оборота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23900" y="2190750"/>
            <a:ext cx="3619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A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Основная переменная выручка от оборота (0,5–2%)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533400" y="2533650"/>
            <a:ext cx="4000500" cy="533400"/>
          </a:xfrm>
          <a:prstGeom prst="roundRect">
            <a:avLst>
              <a:gd name="adj" fmla="val 17857"/>
            </a:avLst>
          </a:prstGeom>
          <a:solidFill>
            <a:srgbClr val="0D766C">
              <a:alpha val="6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23900" y="2628900"/>
            <a:ext cx="3619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5231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Лицензия платформы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23900" y="2800350"/>
            <a:ext cx="3619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A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Регулярный SaaS-доступ к платформе и модулям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533400" y="3162300"/>
            <a:ext cx="4000500" cy="533400"/>
          </a:xfrm>
          <a:prstGeom prst="roundRect">
            <a:avLst>
              <a:gd name="adj" fmla="val 17857"/>
            </a:avLst>
          </a:prstGeom>
          <a:solidFill>
            <a:srgbClr val="0D766C">
              <a:alpha val="6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23900" y="3257550"/>
            <a:ext cx="3619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5231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Внедрение + SLA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23900" y="3429000"/>
            <a:ext cx="3619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A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Кастомизация, поддержка, API-интеграции и аналитика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4953000" y="1905000"/>
            <a:ext cx="3714750" cy="2857500"/>
          </a:xfrm>
          <a:prstGeom prst="roundRect">
            <a:avLst>
              <a:gd name="adj" fmla="val 4667"/>
            </a:avLst>
          </a:prstGeom>
          <a:solidFill>
            <a:srgbClr val="15231F"/>
          </a:solidFill>
          <a:ln/>
        </p:spPr>
      </p:sp>
      <p:sp>
        <p:nvSpPr>
          <p:cNvPr id="15" name="Text 13"/>
          <p:cNvSpPr/>
          <p:nvPr/>
        </p:nvSpPr>
        <p:spPr>
          <a:xfrm>
            <a:off x="5219700" y="2171700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6" dirty="0">
                <a:solidFill>
                  <a:srgbClr val="1CA88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ФОРМУЛА ВЫРУЧКИ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19700" y="2476500"/>
            <a:ext cx="3143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DF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Выручка = оборот × ставка + сервисы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5219700" y="2819400"/>
            <a:ext cx="3143250" cy="9525"/>
          </a:xfrm>
          <a:prstGeom prst="rect">
            <a:avLst/>
          </a:prstGeom>
          <a:solidFill>
            <a:srgbClr val="FFFDF9">
              <a:alpha val="1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219700" y="3009900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6" dirty="0">
                <a:solidFill>
                  <a:srgbClr val="1CA88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ДИАПАЗОН КОМИССИИ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19700" y="3295650"/>
            <a:ext cx="190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75" dirty="0">
                <a:solidFill>
                  <a:srgbClr val="FFFDF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0,5% — 2%</a:t>
            </a:r>
            <a:endParaRPr lang="en-US" sz="2675" dirty="0"/>
          </a:p>
        </p:txBody>
      </p:sp>
      <p:sp>
        <p:nvSpPr>
          <p:cNvPr id="20" name="Text 18"/>
          <p:cNvSpPr/>
          <p:nvPr/>
        </p:nvSpPr>
        <p:spPr>
          <a:xfrm>
            <a:off x="5219700" y="3790950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обработанного оборота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5219700" y="4095750"/>
            <a:ext cx="3143250" cy="9525"/>
          </a:xfrm>
          <a:prstGeom prst="rect">
            <a:avLst/>
          </a:prstGeom>
          <a:solidFill>
            <a:srgbClr val="FFFDF9">
              <a:alpha val="1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219700" y="4286250"/>
            <a:ext cx="3143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3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Смешанная модель монетизирует поток и корпоративную ценность.</a:t>
            </a:r>
            <a:endParaRPr lang="en-US" sz="963" dirty="0"/>
          </a:p>
        </p:txBody>
      </p:sp>
      <p:sp>
        <p:nvSpPr>
          <p:cNvPr id="23" name="Text 21"/>
          <p:cNvSpPr/>
          <p:nvPr/>
        </p:nvSpPr>
        <p:spPr>
          <a:xfrm>
            <a:off x="8382000" y="4762500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2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9525">
            <a:solidFill>
              <a:srgbClr val="0D766C">
                <a:alpha val="1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9525">
            <a:solidFill>
              <a:srgbClr val="0D766C">
                <a:alpha val="10000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9525">
            <a:solidFill>
              <a:srgbClr val="0D766C">
                <a:alpha val="10000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33400" y="38100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kern="0" spc="8" dirty="0">
                <a:solidFill>
                  <a:srgbClr val="0D766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05 ПОТЕНЦИАЛ ОБОРОТА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533400" y="685800"/>
            <a:ext cx="4762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92" dirty="0">
                <a:solidFill>
                  <a:srgbClr val="FFFDF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Минимальная оборотная мощность платформы</a:t>
            </a:r>
            <a:endParaRPr lang="en-US" sz="1992" dirty="0"/>
          </a:p>
        </p:txBody>
      </p:sp>
      <p:sp>
        <p:nvSpPr>
          <p:cNvPr id="7" name="Text 5"/>
          <p:cNvSpPr/>
          <p:nvPr/>
        </p:nvSpPr>
        <p:spPr>
          <a:xfrm>
            <a:off x="533400" y="1381125"/>
            <a:ext cx="428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71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Стартовая сеть создает оборот, с которого платформа получает комиссию.</a:t>
            </a:r>
            <a:endParaRPr lang="en-US" sz="1071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1933575"/>
            <a:ext cx="2324100" cy="14668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3900" y="2143125"/>
            <a:ext cx="1905000" cy="142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6" dirty="0">
                <a:solidFill>
                  <a:srgbClr val="1CA88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ИСХОДНЫЕ ПАРАМЕТРЫ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23900" y="2409824"/>
            <a:ext cx="800652" cy="182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DF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Операторы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362200" y="2391744"/>
            <a:ext cx="266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3–5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2051" y="2672650"/>
            <a:ext cx="952501" cy="21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DF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Инструменты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524552" y="2693638"/>
            <a:ext cx="11043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10–20 / оператор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29744" y="2995532"/>
            <a:ext cx="495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DF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Оборот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733550" y="2995532"/>
            <a:ext cx="89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$25K / месяц</a:t>
            </a:r>
            <a:endParaRPr lang="en-US" sz="10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8950" y="1933575"/>
            <a:ext cx="2752725" cy="146685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38500" y="2143125"/>
            <a:ext cx="2333625" cy="13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73" kern="0" spc="6" dirty="0">
                <a:solidFill>
                  <a:srgbClr val="1CA88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МИНИМАЛЬНЫЙ СЦЕНАРИЙ</a:t>
            </a:r>
            <a:endParaRPr lang="en-US" sz="873" dirty="0"/>
          </a:p>
        </p:txBody>
      </p:sp>
      <p:sp>
        <p:nvSpPr>
          <p:cNvPr id="18" name="Text 14"/>
          <p:cNvSpPr/>
          <p:nvPr/>
        </p:nvSpPr>
        <p:spPr>
          <a:xfrm>
            <a:off x="3238500" y="2342696"/>
            <a:ext cx="2333625" cy="449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44" dirty="0">
                <a:solidFill>
                  <a:srgbClr val="FFFDF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$750K</a:t>
            </a:r>
            <a:endParaRPr lang="en-US" sz="2944" dirty="0"/>
          </a:p>
        </p:txBody>
      </p:sp>
      <p:sp>
        <p:nvSpPr>
          <p:cNvPr id="19" name="Text 15"/>
          <p:cNvSpPr/>
          <p:nvPr/>
        </p:nvSpPr>
        <p:spPr>
          <a:xfrm>
            <a:off x="3238500" y="2858256"/>
            <a:ext cx="2333625" cy="149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1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оборот / месяц</a:t>
            </a:r>
            <a:endParaRPr lang="en-US" sz="981" dirty="0"/>
          </a:p>
        </p:txBody>
      </p:sp>
      <p:sp>
        <p:nvSpPr>
          <p:cNvPr id="20" name="Text 16"/>
          <p:cNvSpPr/>
          <p:nvPr/>
        </p:nvSpPr>
        <p:spPr>
          <a:xfrm>
            <a:off x="3238500" y="3074458"/>
            <a:ext cx="2333625" cy="116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4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× 10 × $25K</a:t>
            </a:r>
            <a:endParaRPr lang="en-US" sz="764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4075" y="1933575"/>
            <a:ext cx="2752725" cy="146685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43625" y="2143125"/>
            <a:ext cx="2333625" cy="13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73" kern="0" spc="6" dirty="0">
                <a:solidFill>
                  <a:srgbClr val="1CA88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РАСШИРЕННЫЙ СЦЕНАРИЙ</a:t>
            </a:r>
            <a:endParaRPr lang="en-US" sz="873" dirty="0"/>
          </a:p>
        </p:txBody>
      </p:sp>
      <p:sp>
        <p:nvSpPr>
          <p:cNvPr id="23" name="Text 18"/>
          <p:cNvSpPr/>
          <p:nvPr/>
        </p:nvSpPr>
        <p:spPr>
          <a:xfrm>
            <a:off x="6143625" y="2342696"/>
            <a:ext cx="2333625" cy="449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44" dirty="0">
                <a:solidFill>
                  <a:srgbClr val="FFFDF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$2.5M</a:t>
            </a:r>
            <a:endParaRPr lang="en-US" sz="2944" dirty="0"/>
          </a:p>
        </p:txBody>
      </p:sp>
      <p:sp>
        <p:nvSpPr>
          <p:cNvPr id="24" name="Text 19"/>
          <p:cNvSpPr/>
          <p:nvPr/>
        </p:nvSpPr>
        <p:spPr>
          <a:xfrm>
            <a:off x="6143625" y="2858256"/>
            <a:ext cx="2333625" cy="149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1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оборот / месяц</a:t>
            </a:r>
            <a:endParaRPr lang="en-US" sz="981" dirty="0"/>
          </a:p>
        </p:txBody>
      </p:sp>
      <p:sp>
        <p:nvSpPr>
          <p:cNvPr id="25" name="Text 20"/>
          <p:cNvSpPr/>
          <p:nvPr/>
        </p:nvSpPr>
        <p:spPr>
          <a:xfrm>
            <a:off x="6143625" y="3074458"/>
            <a:ext cx="2333625" cy="116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4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× 20 × $25K</a:t>
            </a:r>
            <a:endParaRPr lang="en-US" sz="764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" y="3600450"/>
            <a:ext cx="8172450" cy="127635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23900" y="3810000"/>
            <a:ext cx="7753350" cy="8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kern="0" spc="6" dirty="0">
                <a:solidFill>
                  <a:srgbClr val="1CA88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КОМИССИОННАЯ ВЫРУЧКА / МЕСЯЦ</a:t>
            </a:r>
            <a:endParaRPr lang="en-US" sz="600" dirty="0"/>
          </a:p>
        </p:txBody>
      </p:sp>
      <p:sp>
        <p:nvSpPr>
          <p:cNvPr id="28" name="Text 22"/>
          <p:cNvSpPr/>
          <p:nvPr/>
        </p:nvSpPr>
        <p:spPr>
          <a:xfrm>
            <a:off x="723900" y="3959087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FFFDF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Комиссия</a:t>
            </a:r>
            <a:endParaRPr lang="en-US" sz="975" dirty="0"/>
          </a:p>
        </p:txBody>
      </p:sp>
      <p:sp>
        <p:nvSpPr>
          <p:cNvPr id="29" name="Text 23"/>
          <p:cNvSpPr/>
          <p:nvPr/>
        </p:nvSpPr>
        <p:spPr>
          <a:xfrm>
            <a:off x="1676400" y="3959087"/>
            <a:ext cx="340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5" dirty="0">
                <a:solidFill>
                  <a:srgbClr val="FFFDF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$750K оборот</a:t>
            </a:r>
            <a:endParaRPr lang="en-US" sz="975" dirty="0"/>
          </a:p>
        </p:txBody>
      </p:sp>
      <p:sp>
        <p:nvSpPr>
          <p:cNvPr id="30" name="Text 24"/>
          <p:cNvSpPr/>
          <p:nvPr/>
        </p:nvSpPr>
        <p:spPr>
          <a:xfrm>
            <a:off x="5076825" y="3959087"/>
            <a:ext cx="340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5" dirty="0">
                <a:solidFill>
                  <a:srgbClr val="FFFDF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$2,5M оборот</a:t>
            </a:r>
            <a:endParaRPr lang="en-US" sz="975" dirty="0"/>
          </a:p>
        </p:txBody>
      </p:sp>
      <p:sp>
        <p:nvSpPr>
          <p:cNvPr id="31" name="Shape 25"/>
          <p:cNvSpPr/>
          <p:nvPr/>
        </p:nvSpPr>
        <p:spPr>
          <a:xfrm>
            <a:off x="723900" y="4150770"/>
            <a:ext cx="7753350" cy="5325"/>
          </a:xfrm>
          <a:prstGeom prst="rect">
            <a:avLst/>
          </a:prstGeom>
          <a:solidFill>
            <a:srgbClr val="FFFDF9">
              <a:alpha val="10000"/>
            </a:srgbClr>
          </a:solidFill>
          <a:ln/>
        </p:spPr>
      </p:sp>
      <p:sp>
        <p:nvSpPr>
          <p:cNvPr id="32" name="Text 26"/>
          <p:cNvSpPr/>
          <p:nvPr/>
        </p:nvSpPr>
        <p:spPr>
          <a:xfrm>
            <a:off x="723900" y="4219989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0,5%</a:t>
            </a:r>
            <a:endParaRPr lang="en-US" sz="975" dirty="0"/>
          </a:p>
        </p:txBody>
      </p:sp>
      <p:sp>
        <p:nvSpPr>
          <p:cNvPr id="33" name="Text 27"/>
          <p:cNvSpPr/>
          <p:nvPr/>
        </p:nvSpPr>
        <p:spPr>
          <a:xfrm>
            <a:off x="1676400" y="4219989"/>
            <a:ext cx="34004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DF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$3,750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5076825" y="4219989"/>
            <a:ext cx="34004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DF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$12,500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723900" y="4390374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1,0%</a:t>
            </a:r>
            <a:endParaRPr lang="en-US" sz="975" dirty="0"/>
          </a:p>
        </p:txBody>
      </p:sp>
      <p:sp>
        <p:nvSpPr>
          <p:cNvPr id="36" name="Text 30"/>
          <p:cNvSpPr/>
          <p:nvPr/>
        </p:nvSpPr>
        <p:spPr>
          <a:xfrm>
            <a:off x="1676400" y="4390374"/>
            <a:ext cx="34004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DF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$7,500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5076825" y="4390374"/>
            <a:ext cx="34004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DF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$25,000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723900" y="4560759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2,0%</a:t>
            </a:r>
            <a:endParaRPr lang="en-US" sz="975" dirty="0"/>
          </a:p>
        </p:txBody>
      </p:sp>
      <p:sp>
        <p:nvSpPr>
          <p:cNvPr id="39" name="Text 33"/>
          <p:cNvSpPr/>
          <p:nvPr/>
        </p:nvSpPr>
        <p:spPr>
          <a:xfrm>
            <a:off x="1676400" y="4560759"/>
            <a:ext cx="34004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A88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$15,000</a:t>
            </a:r>
            <a:endParaRPr lang="en-US" sz="1050" dirty="0"/>
          </a:p>
        </p:txBody>
      </p:sp>
      <p:sp>
        <p:nvSpPr>
          <p:cNvPr id="40" name="Text 34"/>
          <p:cNvSpPr/>
          <p:nvPr/>
        </p:nvSpPr>
        <p:spPr>
          <a:xfrm>
            <a:off x="5076825" y="4560759"/>
            <a:ext cx="34004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A88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$50,000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8382000" y="4810125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38100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kern="0" spc="8" dirty="0">
                <a:solidFill>
                  <a:srgbClr val="0D766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06 ЮНИТ-ЭКОНОМИКА</a:t>
            </a:r>
            <a:endParaRPr lang="en-US" sz="975" dirty="0"/>
          </a:p>
        </p:txBody>
      </p:sp>
      <p:sp>
        <p:nvSpPr>
          <p:cNvPr id="4" name="Text 1"/>
          <p:cNvSpPr/>
          <p:nvPr/>
        </p:nvSpPr>
        <p:spPr>
          <a:xfrm>
            <a:off x="533400" y="685800"/>
            <a:ext cx="4762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8" dirty="0">
                <a:solidFill>
                  <a:srgbClr val="15231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Экономика усиливается качеством контроля</a:t>
            </a:r>
            <a:endParaRPr lang="en-US" sz="2208" dirty="0"/>
          </a:p>
        </p:txBody>
      </p:sp>
      <p:sp>
        <p:nvSpPr>
          <p:cNvPr id="5" name="Text 2"/>
          <p:cNvSpPr/>
          <p:nvPr/>
        </p:nvSpPr>
        <p:spPr>
          <a:xfrm>
            <a:off x="533400" y="142875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71" dirty="0">
                <a:solidFill>
                  <a:srgbClr val="4A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Рост выручки зависит от ставки, управляемости сети, лимитов, SLA и снижения ручных ошибок.</a:t>
            </a:r>
            <a:endParaRPr lang="en-US" sz="1071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2076450"/>
            <a:ext cx="2622550" cy="1562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23900" y="2309813"/>
            <a:ext cx="22034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50" dirty="0">
                <a:solidFill>
                  <a:srgbClr val="15231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$750K–$2.5M</a:t>
            </a:r>
            <a:endParaRPr lang="en-US" sz="2550" dirty="0"/>
          </a:p>
        </p:txBody>
      </p:sp>
      <p:sp>
        <p:nvSpPr>
          <p:cNvPr id="8" name="Shape 4"/>
          <p:cNvSpPr/>
          <p:nvPr/>
        </p:nvSpPr>
        <p:spPr>
          <a:xfrm>
            <a:off x="723900" y="2862263"/>
            <a:ext cx="381000" cy="28575"/>
          </a:xfrm>
          <a:prstGeom prst="roundRect">
            <a:avLst>
              <a:gd name="adj" fmla="val 66667"/>
            </a:avLst>
          </a:prstGeom>
          <a:solidFill>
            <a:srgbClr val="0D766C"/>
          </a:solidFill>
          <a:ln/>
        </p:spPr>
      </p:sp>
      <p:sp>
        <p:nvSpPr>
          <p:cNvPr id="9" name="Text 5"/>
          <p:cNvSpPr/>
          <p:nvPr/>
        </p:nvSpPr>
        <p:spPr>
          <a:xfrm>
            <a:off x="723900" y="2967038"/>
            <a:ext cx="220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Месячный оборот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723900" y="3233738"/>
            <a:ext cx="2203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A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обработанный оборот</a:t>
            </a:r>
            <a:endParaRPr lang="en-US" sz="975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9300" y="2076450"/>
            <a:ext cx="2622550" cy="15621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98850" y="2309813"/>
            <a:ext cx="22034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50" dirty="0">
                <a:solidFill>
                  <a:srgbClr val="15231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0,5–2%</a:t>
            </a:r>
            <a:endParaRPr lang="en-US" sz="2550" dirty="0"/>
          </a:p>
        </p:txBody>
      </p:sp>
      <p:sp>
        <p:nvSpPr>
          <p:cNvPr id="13" name="Shape 8"/>
          <p:cNvSpPr/>
          <p:nvPr/>
        </p:nvSpPr>
        <p:spPr>
          <a:xfrm>
            <a:off x="3498850" y="2862263"/>
            <a:ext cx="381000" cy="28575"/>
          </a:xfrm>
          <a:prstGeom prst="roundRect">
            <a:avLst>
              <a:gd name="adj" fmla="val 66667"/>
            </a:avLst>
          </a:prstGeom>
          <a:solidFill>
            <a:srgbClr val="1CA88A"/>
          </a:solidFill>
          <a:ln/>
        </p:spPr>
      </p:sp>
      <p:sp>
        <p:nvSpPr>
          <p:cNvPr id="14" name="Text 9"/>
          <p:cNvSpPr/>
          <p:nvPr/>
        </p:nvSpPr>
        <p:spPr>
          <a:xfrm>
            <a:off x="3498850" y="2967038"/>
            <a:ext cx="220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Диапазон комиссии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3498850" y="3233738"/>
            <a:ext cx="2203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A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зависит от модели клиента</a:t>
            </a:r>
            <a:endParaRPr lang="en-US" sz="975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4250" y="2076450"/>
            <a:ext cx="2622550" cy="15621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73800" y="2309813"/>
            <a:ext cx="22034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50" dirty="0">
                <a:solidFill>
                  <a:srgbClr val="15231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$3.7K–$50K</a:t>
            </a:r>
            <a:endParaRPr lang="en-US" sz="2550" dirty="0"/>
          </a:p>
        </p:txBody>
      </p:sp>
      <p:sp>
        <p:nvSpPr>
          <p:cNvPr id="18" name="Shape 12"/>
          <p:cNvSpPr/>
          <p:nvPr/>
        </p:nvSpPr>
        <p:spPr>
          <a:xfrm>
            <a:off x="6273800" y="2862263"/>
            <a:ext cx="381000" cy="28575"/>
          </a:xfrm>
          <a:prstGeom prst="roundRect">
            <a:avLst>
              <a:gd name="adj" fmla="val 66667"/>
            </a:avLst>
          </a:prstGeom>
          <a:solidFill>
            <a:srgbClr val="0D766C"/>
          </a:solidFill>
          <a:ln/>
        </p:spPr>
      </p:sp>
      <p:sp>
        <p:nvSpPr>
          <p:cNvPr id="19" name="Text 13"/>
          <p:cNvSpPr/>
          <p:nvPr/>
        </p:nvSpPr>
        <p:spPr>
          <a:xfrm>
            <a:off x="6273800" y="2967038"/>
            <a:ext cx="220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Потенциал выручки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6273800" y="3233738"/>
            <a:ext cx="2203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A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комиссия платформы / месяц</a:t>
            </a:r>
            <a:endParaRPr lang="en-US" sz="975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" y="3838575"/>
            <a:ext cx="8172450" cy="94297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2000" y="4086225"/>
            <a:ext cx="7677150" cy="111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4" kern="0" spc="6" dirty="0">
                <a:solidFill>
                  <a:srgbClr val="1CA88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РЫЧАГИ РОСТА</a:t>
            </a:r>
            <a:endParaRPr lang="en-US" sz="734" dirty="0"/>
          </a:p>
        </p:txBody>
      </p:sp>
      <p:sp>
        <p:nvSpPr>
          <p:cNvPr id="23" name="Shape 16"/>
          <p:cNvSpPr/>
          <p:nvPr/>
        </p:nvSpPr>
        <p:spPr>
          <a:xfrm>
            <a:off x="762000" y="4360366"/>
            <a:ext cx="95250" cy="95250"/>
          </a:xfrm>
          <a:prstGeom prst="ellipse">
            <a:avLst/>
          </a:prstGeom>
          <a:solidFill>
            <a:srgbClr val="0D766C"/>
          </a:solidFill>
          <a:ln/>
        </p:spPr>
      </p:sp>
      <p:sp>
        <p:nvSpPr>
          <p:cNvPr id="24" name="Text 17"/>
          <p:cNvSpPr/>
          <p:nvPr/>
        </p:nvSpPr>
        <p:spPr>
          <a:xfrm>
            <a:off x="952500" y="4312741"/>
            <a:ext cx="139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FFFDF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Рост сети</a:t>
            </a:r>
            <a:endParaRPr lang="en-US" sz="1125" dirty="0"/>
          </a:p>
        </p:txBody>
      </p:sp>
      <p:sp>
        <p:nvSpPr>
          <p:cNvPr id="25" name="Shape 18"/>
          <p:cNvSpPr/>
          <p:nvPr/>
        </p:nvSpPr>
        <p:spPr>
          <a:xfrm>
            <a:off x="2647950" y="4360366"/>
            <a:ext cx="95250" cy="95250"/>
          </a:xfrm>
          <a:prstGeom prst="ellipse">
            <a:avLst/>
          </a:prstGeom>
          <a:solidFill>
            <a:srgbClr val="1CA88A"/>
          </a:solidFill>
          <a:ln/>
        </p:spPr>
      </p:sp>
      <p:sp>
        <p:nvSpPr>
          <p:cNvPr id="26" name="Text 19"/>
          <p:cNvSpPr/>
          <p:nvPr/>
        </p:nvSpPr>
        <p:spPr>
          <a:xfrm>
            <a:off x="2838450" y="4312741"/>
            <a:ext cx="130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FFFDF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Оптимизация лимитов</a:t>
            </a:r>
            <a:endParaRPr lang="en-US" sz="1125" dirty="0"/>
          </a:p>
        </p:txBody>
      </p:sp>
      <p:sp>
        <p:nvSpPr>
          <p:cNvPr id="27" name="Shape 20"/>
          <p:cNvSpPr/>
          <p:nvPr/>
        </p:nvSpPr>
        <p:spPr>
          <a:xfrm>
            <a:off x="4448175" y="4360366"/>
            <a:ext cx="95250" cy="95250"/>
          </a:xfrm>
          <a:prstGeom prst="ellipse">
            <a:avLst/>
          </a:prstGeom>
          <a:solidFill>
            <a:srgbClr val="0D766C"/>
          </a:solidFill>
          <a:ln/>
        </p:spPr>
      </p:sp>
      <p:sp>
        <p:nvSpPr>
          <p:cNvPr id="28" name="Text 21"/>
          <p:cNvSpPr/>
          <p:nvPr/>
        </p:nvSpPr>
        <p:spPr>
          <a:xfrm>
            <a:off x="4638675" y="4312741"/>
            <a:ext cx="1162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FFFDF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API-интеграции</a:t>
            </a:r>
            <a:endParaRPr lang="en-US" sz="1125" dirty="0"/>
          </a:p>
        </p:txBody>
      </p:sp>
      <p:sp>
        <p:nvSpPr>
          <p:cNvPr id="29" name="Shape 22"/>
          <p:cNvSpPr/>
          <p:nvPr/>
        </p:nvSpPr>
        <p:spPr>
          <a:xfrm>
            <a:off x="6105525" y="4360366"/>
            <a:ext cx="95250" cy="95250"/>
          </a:xfrm>
          <a:prstGeom prst="ellipse">
            <a:avLst/>
          </a:prstGeom>
          <a:solidFill>
            <a:srgbClr val="1CA88A"/>
          </a:solidFill>
          <a:ln/>
        </p:spPr>
      </p:sp>
      <p:sp>
        <p:nvSpPr>
          <p:cNvPr id="30" name="Text 23"/>
          <p:cNvSpPr/>
          <p:nvPr/>
        </p:nvSpPr>
        <p:spPr>
          <a:xfrm>
            <a:off x="6296025" y="4312741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FFFDF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Управление SLA</a:t>
            </a:r>
            <a:endParaRPr lang="en-US" sz="1125" dirty="0"/>
          </a:p>
        </p:txBody>
      </p:sp>
      <p:sp>
        <p:nvSpPr>
          <p:cNvPr id="31" name="Text 24"/>
          <p:cNvSpPr/>
          <p:nvPr/>
        </p:nvSpPr>
        <p:spPr>
          <a:xfrm>
            <a:off x="8382000" y="4810125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8100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kern="0" spc="8" dirty="0">
                <a:solidFill>
                  <a:srgbClr val="0D766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07 МАСШТАБИРОВАНИЕ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533400" y="685800"/>
            <a:ext cx="4762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8" dirty="0">
                <a:solidFill>
                  <a:srgbClr val="15231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Рост платформы строится на сети и автоматизации</a:t>
            </a:r>
            <a:endParaRPr lang="en-US" sz="2208" dirty="0"/>
          </a:p>
        </p:txBody>
      </p:sp>
      <p:sp>
        <p:nvSpPr>
          <p:cNvPr id="4" name="Text 2"/>
          <p:cNvSpPr/>
          <p:nvPr/>
        </p:nvSpPr>
        <p:spPr>
          <a:xfrm>
            <a:off x="533400" y="142875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71" dirty="0">
                <a:solidFill>
                  <a:srgbClr val="4A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Новые операторы, мерчанты, инструменты, маршрутизация и аналитика расширяют емкость без ручного хаоса.</a:t>
            </a:r>
            <a:endParaRPr lang="en-US" sz="1071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2076450"/>
            <a:ext cx="1957388" cy="2133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3900" y="23622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DF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23900" y="2781300"/>
            <a:ext cx="15382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5231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Стартовая сеть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23900" y="3105150"/>
            <a:ext cx="1538288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A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3–5 операторов, базовые лимиты, ручной контроль</a:t>
            </a:r>
            <a:endParaRPr lang="en-US" sz="975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038" y="2076450"/>
            <a:ext cx="1957388" cy="2133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95588" y="23622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DF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795588" y="2781300"/>
            <a:ext cx="15382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5231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Управляемый рост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795588" y="3105150"/>
            <a:ext cx="1538288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A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Новые мерчанты, SLA, очередь риска и отчетность</a:t>
            </a:r>
            <a:endParaRPr lang="en-US" sz="975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725" y="2076450"/>
            <a:ext cx="1957388" cy="2133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67275" y="23622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DF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867275" y="2781300"/>
            <a:ext cx="15382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5231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Промышленный контур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867275" y="3105150"/>
            <a:ext cx="1538288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A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Маршрутизация, интеграции, риск-правила и автоматизация</a:t>
            </a:r>
            <a:endParaRPr lang="en-US" sz="975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9413" y="2076450"/>
            <a:ext cx="1957388" cy="2133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38963" y="23622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DF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938963" y="2781300"/>
            <a:ext cx="15382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5231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Партнерская сеть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938963" y="3105150"/>
            <a:ext cx="1538288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A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Новые географии, провайдеры и корпоративные клиенты</a:t>
            </a:r>
            <a:endParaRPr lang="en-US" sz="975" dirty="0"/>
          </a:p>
        </p:txBody>
      </p:sp>
      <p:sp>
        <p:nvSpPr>
          <p:cNvPr id="21" name="Shape 15"/>
          <p:cNvSpPr/>
          <p:nvPr/>
        </p:nvSpPr>
        <p:spPr>
          <a:xfrm>
            <a:off x="533400" y="4286250"/>
            <a:ext cx="8134350" cy="0"/>
          </a:xfrm>
          <a:prstGeom prst="line">
            <a:avLst/>
          </a:prstGeom>
          <a:noFill/>
          <a:ln w="19050">
            <a:solidFill>
              <a:srgbClr val="0D766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Shape 16"/>
          <p:cNvSpPr/>
          <p:nvPr/>
        </p:nvSpPr>
        <p:spPr>
          <a:xfrm>
            <a:off x="1476375" y="4238625"/>
            <a:ext cx="95250" cy="95250"/>
          </a:xfrm>
          <a:prstGeom prst="ellipse">
            <a:avLst/>
          </a:prstGeom>
          <a:solidFill>
            <a:srgbClr val="0D766C"/>
          </a:solidFill>
          <a:ln/>
        </p:spPr>
      </p:sp>
      <p:sp>
        <p:nvSpPr>
          <p:cNvPr id="23" name="Shape 17"/>
          <p:cNvSpPr/>
          <p:nvPr/>
        </p:nvSpPr>
        <p:spPr>
          <a:xfrm>
            <a:off x="3476625" y="4238625"/>
            <a:ext cx="95250" cy="95250"/>
          </a:xfrm>
          <a:prstGeom prst="ellipse">
            <a:avLst/>
          </a:prstGeom>
          <a:solidFill>
            <a:srgbClr val="0D766C"/>
          </a:solidFill>
          <a:ln/>
        </p:spPr>
      </p:sp>
      <p:sp>
        <p:nvSpPr>
          <p:cNvPr id="24" name="Shape 18"/>
          <p:cNvSpPr/>
          <p:nvPr/>
        </p:nvSpPr>
        <p:spPr>
          <a:xfrm>
            <a:off x="5524500" y="4238625"/>
            <a:ext cx="95250" cy="95250"/>
          </a:xfrm>
          <a:prstGeom prst="ellipse">
            <a:avLst/>
          </a:prstGeom>
          <a:solidFill>
            <a:srgbClr val="1CA88A"/>
          </a:solidFill>
          <a:ln/>
        </p:spPr>
      </p:sp>
      <p:sp>
        <p:nvSpPr>
          <p:cNvPr id="25" name="Shape 19"/>
          <p:cNvSpPr/>
          <p:nvPr/>
        </p:nvSpPr>
        <p:spPr>
          <a:xfrm>
            <a:off x="7572375" y="4238625"/>
            <a:ext cx="95250" cy="95250"/>
          </a:xfrm>
          <a:prstGeom prst="ellipse">
            <a:avLst/>
          </a:prstGeom>
          <a:solidFill>
            <a:srgbClr val="1CA88A"/>
          </a:solidFill>
          <a:ln/>
        </p:spPr>
      </p:sp>
      <p:sp>
        <p:nvSpPr>
          <p:cNvPr id="26" name="Shape 20"/>
          <p:cNvSpPr/>
          <p:nvPr/>
        </p:nvSpPr>
        <p:spPr>
          <a:xfrm>
            <a:off x="533400" y="4572000"/>
            <a:ext cx="38100" cy="285750"/>
          </a:xfrm>
          <a:prstGeom prst="roundRect">
            <a:avLst>
              <a:gd name="adj" fmla="val 50000"/>
            </a:avLst>
          </a:prstGeom>
          <a:solidFill>
            <a:srgbClr val="0D766C"/>
          </a:solidFill>
          <a:ln/>
        </p:spPr>
      </p:sp>
      <p:sp>
        <p:nvSpPr>
          <p:cNvPr id="27" name="Text 21"/>
          <p:cNvSpPr/>
          <p:nvPr/>
        </p:nvSpPr>
        <p:spPr>
          <a:xfrm>
            <a:off x="723900" y="4600575"/>
            <a:ext cx="794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4A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Масштабирование идет через сеть, автоматизацию и лимиты, а не через рост ручной нагрузки.</a:t>
            </a:r>
            <a:endParaRPr lang="en-US" sz="1125" dirty="0"/>
          </a:p>
        </p:txBody>
      </p:sp>
      <p:sp>
        <p:nvSpPr>
          <p:cNvPr id="28" name="Text 22"/>
          <p:cNvSpPr/>
          <p:nvPr/>
        </p:nvSpPr>
        <p:spPr>
          <a:xfrm>
            <a:off x="8382000" y="4810125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2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9525">
            <a:solidFill>
              <a:srgbClr val="0D766C">
                <a:alpha val="1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533400" y="38100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kern="0" spc="8" dirty="0">
                <a:solidFill>
                  <a:srgbClr val="0D766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08 ДОРОЖНАЯ КАРТА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533400" y="685800"/>
            <a:ext cx="4762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17" dirty="0">
                <a:solidFill>
                  <a:srgbClr val="FFFDF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Прототип показывает ключевую бизнес-логику</a:t>
            </a:r>
            <a:endParaRPr lang="en-US" sz="2117" dirty="0"/>
          </a:p>
        </p:txBody>
      </p:sp>
      <p:sp>
        <p:nvSpPr>
          <p:cNvPr id="5" name="Text 3"/>
          <p:cNvSpPr/>
          <p:nvPr/>
        </p:nvSpPr>
        <p:spPr>
          <a:xfrm>
            <a:off x="533400" y="1381125"/>
            <a:ext cx="428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71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Это не статичный макет: демо тестирует роли, операции, статусы, балансы, сценарии, споры и API-логику.</a:t>
            </a:r>
            <a:endParaRPr lang="en-US" sz="1271" dirty="0"/>
          </a:p>
        </p:txBody>
      </p:sp>
      <p:sp>
        <p:nvSpPr>
          <p:cNvPr id="6" name="Text 4"/>
          <p:cNvSpPr/>
          <p:nvPr/>
        </p:nvSpPr>
        <p:spPr>
          <a:xfrm>
            <a:off x="533400" y="2095500"/>
            <a:ext cx="2857500" cy="135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6" kern="0" spc="6" dirty="0">
                <a:solidFill>
                  <a:srgbClr val="1CA88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ТЕКУЩИЕ ВОЗМОЖНОСТИ</a:t>
            </a:r>
            <a:endParaRPr lang="en-US" sz="886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2295887"/>
            <a:ext cx="2895600" cy="3756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66750" y="2445634"/>
            <a:ext cx="76200" cy="76200"/>
          </a:xfrm>
          <a:prstGeom prst="ellipse">
            <a:avLst/>
          </a:prstGeom>
          <a:solidFill>
            <a:srgbClr val="1CA88A"/>
          </a:solidFill>
          <a:ln/>
        </p:spPr>
      </p:sp>
      <p:sp>
        <p:nvSpPr>
          <p:cNvPr id="9" name="Text 6"/>
          <p:cNvSpPr/>
          <p:nvPr/>
        </p:nvSpPr>
        <p:spPr>
          <a:xfrm>
            <a:off x="838200" y="2410187"/>
            <a:ext cx="2419350" cy="82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FFFDF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Роли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838200" y="2492928"/>
            <a:ext cx="2419350" cy="64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админ, мерчант, оператор, финансы, поддержка</a:t>
            </a:r>
            <a:endParaRPr lang="en-US" sz="6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2717880"/>
            <a:ext cx="2895600" cy="37569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6750" y="2867628"/>
            <a:ext cx="76200" cy="76200"/>
          </a:xfrm>
          <a:prstGeom prst="ellipse">
            <a:avLst/>
          </a:prstGeom>
          <a:solidFill>
            <a:srgbClr val="1CA88A"/>
          </a:solidFill>
          <a:ln/>
        </p:spPr>
      </p:sp>
      <p:sp>
        <p:nvSpPr>
          <p:cNvPr id="13" name="Text 9"/>
          <p:cNvSpPr/>
          <p:nvPr/>
        </p:nvSpPr>
        <p:spPr>
          <a:xfrm>
            <a:off x="838200" y="2832180"/>
            <a:ext cx="2419350" cy="82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FFFDF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Операции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838200" y="2914921"/>
            <a:ext cx="2419350" cy="64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ордера, выплаты, реквизиты, статусы</a:t>
            </a:r>
            <a:endParaRPr lang="en-US" sz="6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3139874"/>
            <a:ext cx="2895600" cy="37569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66750" y="3289622"/>
            <a:ext cx="76200" cy="76200"/>
          </a:xfrm>
          <a:prstGeom prst="ellipse">
            <a:avLst/>
          </a:prstGeom>
          <a:solidFill>
            <a:srgbClr val="1CA88A"/>
          </a:solidFill>
          <a:ln/>
        </p:spPr>
      </p:sp>
      <p:sp>
        <p:nvSpPr>
          <p:cNvPr id="17" name="Text 12"/>
          <p:cNvSpPr/>
          <p:nvPr/>
        </p:nvSpPr>
        <p:spPr>
          <a:xfrm>
            <a:off x="838200" y="3254174"/>
            <a:ext cx="2419350" cy="82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FFFDF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Финансы</a:t>
            </a:r>
            <a:endParaRPr lang="en-US" sz="600" dirty="0"/>
          </a:p>
        </p:txBody>
      </p:sp>
      <p:sp>
        <p:nvSpPr>
          <p:cNvPr id="18" name="Text 13"/>
          <p:cNvSpPr/>
          <p:nvPr/>
        </p:nvSpPr>
        <p:spPr>
          <a:xfrm>
            <a:off x="838200" y="3336915"/>
            <a:ext cx="2419350" cy="64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балансы, hold, комиссии, проводки</a:t>
            </a:r>
            <a:endParaRPr lang="en-US" sz="6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3561868"/>
            <a:ext cx="2895600" cy="375695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66750" y="3711615"/>
            <a:ext cx="76200" cy="76200"/>
          </a:xfrm>
          <a:prstGeom prst="ellipse">
            <a:avLst/>
          </a:prstGeom>
          <a:solidFill>
            <a:srgbClr val="1CA88A"/>
          </a:solidFill>
          <a:ln/>
        </p:spPr>
      </p:sp>
      <p:sp>
        <p:nvSpPr>
          <p:cNvPr id="21" name="Text 15"/>
          <p:cNvSpPr/>
          <p:nvPr/>
        </p:nvSpPr>
        <p:spPr>
          <a:xfrm>
            <a:off x="838200" y="3676168"/>
            <a:ext cx="2419350" cy="82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FFFDF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Риски</a:t>
            </a:r>
            <a:endParaRPr lang="en-US" sz="600" dirty="0"/>
          </a:p>
        </p:txBody>
      </p:sp>
      <p:sp>
        <p:nvSpPr>
          <p:cNvPr id="22" name="Text 16"/>
          <p:cNvSpPr/>
          <p:nvPr/>
        </p:nvSpPr>
        <p:spPr>
          <a:xfrm>
            <a:off x="838200" y="3758909"/>
            <a:ext cx="2419350" cy="64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споры, апелляции, журнал аудита</a:t>
            </a:r>
            <a:endParaRPr lang="en-US" sz="6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3983861"/>
            <a:ext cx="2895600" cy="375695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66750" y="4133609"/>
            <a:ext cx="76200" cy="76200"/>
          </a:xfrm>
          <a:prstGeom prst="ellipse">
            <a:avLst/>
          </a:prstGeom>
          <a:solidFill>
            <a:srgbClr val="0D766C"/>
          </a:solidFill>
          <a:ln/>
        </p:spPr>
      </p:sp>
      <p:sp>
        <p:nvSpPr>
          <p:cNvPr id="25" name="Text 18"/>
          <p:cNvSpPr/>
          <p:nvPr/>
        </p:nvSpPr>
        <p:spPr>
          <a:xfrm>
            <a:off x="838200" y="4098161"/>
            <a:ext cx="2419350" cy="82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FFFDF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Интеграции</a:t>
            </a:r>
            <a:endParaRPr lang="en-US" sz="600" dirty="0"/>
          </a:p>
        </p:txBody>
      </p:sp>
      <p:sp>
        <p:nvSpPr>
          <p:cNvPr id="26" name="Text 19"/>
          <p:cNvSpPr/>
          <p:nvPr/>
        </p:nvSpPr>
        <p:spPr>
          <a:xfrm>
            <a:off x="838200" y="4180902"/>
            <a:ext cx="2419350" cy="64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API-ключи, webhooks, sandbox-сценарии</a:t>
            </a:r>
            <a:endParaRPr lang="en-US" sz="6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4405855"/>
            <a:ext cx="2895600" cy="375695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66750" y="4555603"/>
            <a:ext cx="76200" cy="76200"/>
          </a:xfrm>
          <a:prstGeom prst="ellipse">
            <a:avLst/>
          </a:prstGeom>
          <a:solidFill>
            <a:srgbClr val="0D766C"/>
          </a:solidFill>
          <a:ln/>
        </p:spPr>
      </p:sp>
      <p:sp>
        <p:nvSpPr>
          <p:cNvPr id="29" name="Text 21"/>
          <p:cNvSpPr/>
          <p:nvPr/>
        </p:nvSpPr>
        <p:spPr>
          <a:xfrm>
            <a:off x="838200" y="4520155"/>
            <a:ext cx="2419350" cy="82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FFFDF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Аналитика</a:t>
            </a:r>
            <a:endParaRPr lang="en-US" sz="600" dirty="0"/>
          </a:p>
        </p:txBody>
      </p:sp>
      <p:sp>
        <p:nvSpPr>
          <p:cNvPr id="30" name="Text 22"/>
          <p:cNvSpPr/>
          <p:nvPr/>
        </p:nvSpPr>
        <p:spPr>
          <a:xfrm>
            <a:off x="838200" y="4602896"/>
            <a:ext cx="2419350" cy="64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панель, отчеты, экономика продукта</a:t>
            </a:r>
            <a:endParaRPr lang="en-US" sz="600" dirty="0"/>
          </a:p>
        </p:txBody>
      </p:sp>
      <p:sp>
        <p:nvSpPr>
          <p:cNvPr id="31" name="Text 23"/>
          <p:cNvSpPr/>
          <p:nvPr/>
        </p:nvSpPr>
        <p:spPr>
          <a:xfrm>
            <a:off x="3810000" y="2095500"/>
            <a:ext cx="485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6" dirty="0">
                <a:solidFill>
                  <a:srgbClr val="1CA88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ЭТАПЫ РАЗВИТИЯ</a:t>
            </a:r>
            <a:endParaRPr lang="en-US" sz="9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0950" y="2362200"/>
            <a:ext cx="2400300" cy="59055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3943350" y="2514600"/>
            <a:ext cx="2095500" cy="136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92" dirty="0">
                <a:solidFill>
                  <a:srgbClr val="15231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MVP+</a:t>
            </a:r>
            <a:endParaRPr lang="en-US" sz="892" dirty="0"/>
          </a:p>
        </p:txBody>
      </p:sp>
      <p:sp>
        <p:nvSpPr>
          <p:cNvPr id="34" name="Text 25"/>
          <p:cNvSpPr/>
          <p:nvPr/>
        </p:nvSpPr>
        <p:spPr>
          <a:xfrm>
            <a:off x="3943350" y="2677886"/>
            <a:ext cx="2095500" cy="122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13" dirty="0">
                <a:solidFill>
                  <a:srgbClr val="4A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Postgres, auth, роли, аудит, модель данных</a:t>
            </a:r>
            <a:endParaRPr lang="en-US" sz="713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362200"/>
            <a:ext cx="2400300" cy="59055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438900" y="2514600"/>
            <a:ext cx="2095500" cy="136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92" dirty="0">
                <a:solidFill>
                  <a:srgbClr val="15231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Пилот</a:t>
            </a:r>
            <a:endParaRPr lang="en-US" sz="892" dirty="0"/>
          </a:p>
        </p:txBody>
      </p:sp>
      <p:sp>
        <p:nvSpPr>
          <p:cNvPr id="37" name="Text 27"/>
          <p:cNvSpPr/>
          <p:nvPr/>
        </p:nvSpPr>
        <p:spPr>
          <a:xfrm>
            <a:off x="6438900" y="2677886"/>
            <a:ext cx="2095500" cy="122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13" dirty="0">
                <a:solidFill>
                  <a:srgbClr val="4A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Интеграции, webhooks, SLA, финансовая отчетность</a:t>
            </a:r>
            <a:endParaRPr lang="en-US" sz="713" dirty="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0950" y="3048000"/>
            <a:ext cx="2400300" cy="59055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3943350" y="3200400"/>
            <a:ext cx="2095500" cy="136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92" dirty="0">
                <a:solidFill>
                  <a:srgbClr val="15231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Масштаб</a:t>
            </a:r>
            <a:endParaRPr lang="en-US" sz="892" dirty="0"/>
          </a:p>
        </p:txBody>
      </p:sp>
      <p:sp>
        <p:nvSpPr>
          <p:cNvPr id="40" name="Text 29"/>
          <p:cNvSpPr/>
          <p:nvPr/>
        </p:nvSpPr>
        <p:spPr>
          <a:xfrm>
            <a:off x="3943350" y="3363686"/>
            <a:ext cx="2095500" cy="122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13" dirty="0">
                <a:solidFill>
                  <a:srgbClr val="4A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Маршрутизация, лимиты, риск-скоринг, расширенная аналитика</a:t>
            </a:r>
            <a:endParaRPr lang="en-US" sz="713" dirty="0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3048000"/>
            <a:ext cx="2400300" cy="59055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6438900" y="3200400"/>
            <a:ext cx="2095500" cy="136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92" dirty="0">
                <a:solidFill>
                  <a:srgbClr val="15231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Сеть</a:t>
            </a:r>
            <a:endParaRPr lang="en-US" sz="892" dirty="0"/>
          </a:p>
        </p:txBody>
      </p:sp>
      <p:sp>
        <p:nvSpPr>
          <p:cNvPr id="43" name="Text 31"/>
          <p:cNvSpPr/>
          <p:nvPr/>
        </p:nvSpPr>
        <p:spPr>
          <a:xfrm>
            <a:off x="6438900" y="3363686"/>
            <a:ext cx="2095500" cy="122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13" dirty="0">
                <a:solidFill>
                  <a:srgbClr val="4A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Операторы, мерчанты, провайдеры, партнерские каналы</a:t>
            </a:r>
            <a:endParaRPr lang="en-US" sz="713" dirty="0"/>
          </a:p>
        </p:txBody>
      </p:sp>
      <p:sp>
        <p:nvSpPr>
          <p:cNvPr id="44" name="Shape 32"/>
          <p:cNvSpPr/>
          <p:nvPr/>
        </p:nvSpPr>
        <p:spPr>
          <a:xfrm>
            <a:off x="3810000" y="3752850"/>
            <a:ext cx="4857750" cy="9525"/>
          </a:xfrm>
          <a:prstGeom prst="rect">
            <a:avLst/>
          </a:prstGeom>
          <a:solidFill>
            <a:srgbClr val="FFFDF9">
              <a:alpha val="10000"/>
            </a:srgbClr>
          </a:solidFill>
          <a:ln/>
        </p:spPr>
      </p:sp>
      <p:sp>
        <p:nvSpPr>
          <p:cNvPr id="45" name="Text 33"/>
          <p:cNvSpPr/>
          <p:nvPr/>
        </p:nvSpPr>
        <p:spPr>
          <a:xfrm>
            <a:off x="3810000" y="3895725"/>
            <a:ext cx="4857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Цель: перейти от рабочего демо к масштабируемому B2B fintech-продукту.</a:t>
            </a:r>
            <a:endParaRPr lang="en-US" sz="1050" dirty="0"/>
          </a:p>
        </p:txBody>
      </p:sp>
      <p:sp>
        <p:nvSpPr>
          <p:cNvPr id="46" name="Text 34"/>
          <p:cNvSpPr/>
          <p:nvPr/>
        </p:nvSpPr>
        <p:spPr>
          <a:xfrm>
            <a:off x="8382000" y="4810125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3810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kern="0" spc="8" dirty="0">
                <a:solidFill>
                  <a:srgbClr val="0D766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09 ЗАПРОС</a:t>
            </a:r>
            <a:endParaRPr lang="en-US" sz="975" dirty="0"/>
          </a:p>
        </p:txBody>
      </p:sp>
      <p:sp>
        <p:nvSpPr>
          <p:cNvPr id="4" name="Text 1"/>
          <p:cNvSpPr/>
          <p:nvPr/>
        </p:nvSpPr>
        <p:spPr>
          <a:xfrm>
            <a:off x="533400" y="647700"/>
            <a:ext cx="5238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5231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Платформа упаковывает платежный поток в инфраструктуру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33400" y="152400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3" dirty="0">
                <a:solidFill>
                  <a:srgbClr val="4A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Понятная комиссия, растущий оборот, управляемые риски и рабочий демо-продукт.</a:t>
            </a:r>
            <a:endParaRPr lang="en-US" sz="963" dirty="0"/>
          </a:p>
        </p:txBody>
      </p:sp>
      <p:sp>
        <p:nvSpPr>
          <p:cNvPr id="6" name="Shape 3"/>
          <p:cNvSpPr/>
          <p:nvPr/>
        </p:nvSpPr>
        <p:spPr>
          <a:xfrm>
            <a:off x="533400" y="2095500"/>
            <a:ext cx="1809750" cy="1333500"/>
          </a:xfrm>
          <a:prstGeom prst="roundRect">
            <a:avLst>
              <a:gd name="adj" fmla="val 8571"/>
            </a:avLst>
          </a:prstGeom>
          <a:solidFill>
            <a:srgbClr val="0D766C">
              <a:alpha val="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76275" y="2238375"/>
            <a:ext cx="285750" cy="285750"/>
          </a:xfrm>
          <a:prstGeom prst="ellipse">
            <a:avLst/>
          </a:prstGeom>
          <a:solidFill>
            <a:srgbClr val="0D766C"/>
          </a:solidFill>
          <a:ln/>
        </p:spPr>
      </p:sp>
      <p:sp>
        <p:nvSpPr>
          <p:cNvPr id="8" name="Text 5"/>
          <p:cNvSpPr/>
          <p:nvPr/>
        </p:nvSpPr>
        <p:spPr>
          <a:xfrm>
            <a:off x="723900" y="2667000"/>
            <a:ext cx="1428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5231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Что требуется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723900" y="2914650"/>
            <a:ext cx="1428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1" dirty="0">
                <a:solidFill>
                  <a:srgbClr val="4A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Партнер или инвестор для пилота и масштабирования</a:t>
            </a:r>
            <a:endParaRPr lang="en-US" sz="961" dirty="0"/>
          </a:p>
        </p:txBody>
      </p:sp>
      <p:sp>
        <p:nvSpPr>
          <p:cNvPr id="10" name="Shape 7"/>
          <p:cNvSpPr/>
          <p:nvPr/>
        </p:nvSpPr>
        <p:spPr>
          <a:xfrm>
            <a:off x="2495550" y="2095500"/>
            <a:ext cx="1809750" cy="1333500"/>
          </a:xfrm>
          <a:prstGeom prst="roundRect">
            <a:avLst>
              <a:gd name="adj" fmla="val 8571"/>
            </a:avLst>
          </a:prstGeom>
          <a:solidFill>
            <a:srgbClr val="0D766C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2638425" y="2238375"/>
            <a:ext cx="285750" cy="285750"/>
          </a:xfrm>
          <a:prstGeom prst="ellipse">
            <a:avLst/>
          </a:prstGeom>
          <a:solidFill>
            <a:srgbClr val="0D766C"/>
          </a:solidFill>
          <a:ln/>
        </p:spPr>
      </p:sp>
      <p:sp>
        <p:nvSpPr>
          <p:cNvPr id="12" name="Text 9"/>
          <p:cNvSpPr/>
          <p:nvPr/>
        </p:nvSpPr>
        <p:spPr>
          <a:xfrm>
            <a:off x="2686050" y="2667000"/>
            <a:ext cx="1428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5231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Фокус пилота</a:t>
            </a:r>
            <a:endParaRPr lang="en-US" sz="1125" dirty="0"/>
          </a:p>
        </p:txBody>
      </p:sp>
      <p:sp>
        <p:nvSpPr>
          <p:cNvPr id="13" name="Text 10"/>
          <p:cNvSpPr/>
          <p:nvPr/>
        </p:nvSpPr>
        <p:spPr>
          <a:xfrm>
            <a:off x="2686050" y="2914650"/>
            <a:ext cx="1428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2" dirty="0">
                <a:solidFill>
                  <a:srgbClr val="4A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Подтвердить оборот, комиссию, SLA и операционную модель</a:t>
            </a:r>
            <a:endParaRPr lang="en-US" sz="902" dirty="0"/>
          </a:p>
        </p:txBody>
      </p:sp>
      <p:sp>
        <p:nvSpPr>
          <p:cNvPr id="14" name="Shape 11"/>
          <p:cNvSpPr/>
          <p:nvPr/>
        </p:nvSpPr>
        <p:spPr>
          <a:xfrm>
            <a:off x="4457700" y="2095500"/>
            <a:ext cx="1809750" cy="1333500"/>
          </a:xfrm>
          <a:prstGeom prst="roundRect">
            <a:avLst>
              <a:gd name="adj" fmla="val 8571"/>
            </a:avLst>
          </a:prstGeom>
          <a:solidFill>
            <a:srgbClr val="0D766C">
              <a:alpha val="8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600575" y="2238375"/>
            <a:ext cx="285750" cy="285750"/>
          </a:xfrm>
          <a:prstGeom prst="ellipse">
            <a:avLst/>
          </a:prstGeom>
          <a:solidFill>
            <a:srgbClr val="1CA88A"/>
          </a:solidFill>
          <a:ln/>
        </p:spPr>
      </p:sp>
      <p:sp>
        <p:nvSpPr>
          <p:cNvPr id="16" name="Text 13"/>
          <p:cNvSpPr/>
          <p:nvPr/>
        </p:nvSpPr>
        <p:spPr>
          <a:xfrm>
            <a:off x="4648200" y="2667000"/>
            <a:ext cx="1428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5231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Следующий шаг</a:t>
            </a:r>
            <a:endParaRPr lang="en-US" sz="1125" dirty="0"/>
          </a:p>
        </p:txBody>
      </p:sp>
      <p:sp>
        <p:nvSpPr>
          <p:cNvPr id="17" name="Text 14"/>
          <p:cNvSpPr/>
          <p:nvPr/>
        </p:nvSpPr>
        <p:spPr>
          <a:xfrm>
            <a:off x="4648200" y="2914650"/>
            <a:ext cx="1428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49" dirty="0">
                <a:solidFill>
                  <a:srgbClr val="4A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30–45 минут демо и согласование сценария запуска</a:t>
            </a:r>
            <a:endParaRPr lang="en-US" sz="949" dirty="0"/>
          </a:p>
        </p:txBody>
      </p:sp>
      <p:sp>
        <p:nvSpPr>
          <p:cNvPr id="18" name="Shape 15"/>
          <p:cNvSpPr/>
          <p:nvPr/>
        </p:nvSpPr>
        <p:spPr>
          <a:xfrm>
            <a:off x="533400" y="3714750"/>
            <a:ext cx="5715000" cy="1047750"/>
          </a:xfrm>
          <a:prstGeom prst="roundRect">
            <a:avLst>
              <a:gd name="adj" fmla="val 12727"/>
            </a:avLst>
          </a:prstGeom>
          <a:solidFill>
            <a:srgbClr val="15231F"/>
          </a:solidFill>
          <a:ln/>
        </p:spPr>
      </p:sp>
      <p:sp>
        <p:nvSpPr>
          <p:cNvPr id="19" name="Text 16"/>
          <p:cNvSpPr/>
          <p:nvPr/>
        </p:nvSpPr>
        <p:spPr>
          <a:xfrm>
            <a:off x="762000" y="3839308"/>
            <a:ext cx="523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3" dirty="0">
                <a:solidFill>
                  <a:srgbClr val="FFFDF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Платформа превращает платежный поток в прозрачную, контролируемую и масштабируемую инфраструктуру.</a:t>
            </a:r>
            <a:endParaRPr lang="en-US" sz="973" dirty="0"/>
          </a:p>
        </p:txBody>
      </p:sp>
      <p:sp>
        <p:nvSpPr>
          <p:cNvPr id="20" name="Text 17"/>
          <p:cNvSpPr/>
          <p:nvPr/>
        </p:nvSpPr>
        <p:spPr>
          <a:xfrm>
            <a:off x="762000" y="4341642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050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Рабочее Д</a:t>
            </a:r>
            <a:r>
              <a:rPr lang="en-US" sz="1050" dirty="0" err="1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емо</a:t>
            </a:r>
            <a:r>
              <a:rPr lang="en-US" sz="1050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r>
              <a:rPr lang="en-US" sz="1050" dirty="0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4" action="ppaction://hlinkfile"/>
              </a:rPr>
              <a:t>fintech-demo-</a:t>
            </a:r>
            <a:r>
              <a:rPr lang="en-US" sz="1050" dirty="0" err="1">
                <a:solidFill>
                  <a:srgbClr val="FFFDF9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4" action="ppaction://hlinkfile"/>
              </a:rPr>
              <a:t>three.vercel.app</a:t>
            </a:r>
            <a:endParaRPr lang="ru-RU" sz="1050" dirty="0">
              <a:solidFill>
                <a:srgbClr val="FFFDF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buNone/>
            </a:pPr>
            <a:endParaRPr lang="en-US" sz="1050" dirty="0">
              <a:solidFill>
                <a:srgbClr val="FFFDF9"/>
              </a:solidFill>
              <a:latin typeface="Inter" pitchFamily="34" charset="0"/>
            </a:endParaRPr>
          </a:p>
          <a:p>
            <a:pPr marL="0" indent="0" algn="l">
              <a:buNone/>
            </a:pPr>
            <a:r>
              <a:rPr lang="ru-RU" sz="1050" dirty="0">
                <a:solidFill>
                  <a:srgbClr val="FFFDF9"/>
                </a:solidFill>
                <a:latin typeface="Inter" pitchFamily="34" charset="0"/>
              </a:rPr>
              <a:t>Контакт ТГ </a:t>
            </a:r>
            <a:r>
              <a:rPr lang="en-US" sz="1050" dirty="0">
                <a:solidFill>
                  <a:srgbClr val="FFFDF9"/>
                </a:solidFill>
                <a:latin typeface="Inter" pitchFamily="34" charset="0"/>
                <a:hlinkClick r:id="rId5"/>
              </a:rPr>
              <a:t>@Roman_cryptopro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143750" y="1524000"/>
            <a:ext cx="0" cy="2476500"/>
          </a:xfrm>
          <a:prstGeom prst="line">
            <a:avLst/>
          </a:prstGeom>
          <a:noFill/>
          <a:ln w="19050">
            <a:solidFill>
              <a:srgbClr val="0D766C">
                <a:alpha val="1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Shape 19"/>
          <p:cNvSpPr/>
          <p:nvPr/>
        </p:nvSpPr>
        <p:spPr>
          <a:xfrm>
            <a:off x="7067550" y="1828800"/>
            <a:ext cx="152400" cy="152400"/>
          </a:xfrm>
          <a:prstGeom prst="ellipse">
            <a:avLst/>
          </a:prstGeom>
          <a:solidFill>
            <a:srgbClr val="0D766C"/>
          </a:solidFill>
          <a:ln/>
        </p:spPr>
      </p:sp>
      <p:sp>
        <p:nvSpPr>
          <p:cNvPr id="23" name="Shape 20"/>
          <p:cNvSpPr/>
          <p:nvPr/>
        </p:nvSpPr>
        <p:spPr>
          <a:xfrm>
            <a:off x="7067550" y="2686050"/>
            <a:ext cx="152400" cy="152400"/>
          </a:xfrm>
          <a:prstGeom prst="ellipse">
            <a:avLst/>
          </a:prstGeom>
          <a:solidFill>
            <a:srgbClr val="1CA88A"/>
          </a:solidFill>
          <a:ln/>
        </p:spPr>
      </p:sp>
      <p:sp>
        <p:nvSpPr>
          <p:cNvPr id="24" name="Shape 21"/>
          <p:cNvSpPr/>
          <p:nvPr/>
        </p:nvSpPr>
        <p:spPr>
          <a:xfrm>
            <a:off x="7067550" y="3543300"/>
            <a:ext cx="152400" cy="152400"/>
          </a:xfrm>
          <a:prstGeom prst="ellipse">
            <a:avLst/>
          </a:prstGeom>
          <a:solidFill>
            <a:srgbClr val="0D766C"/>
          </a:solidFill>
          <a:ln/>
        </p:spPr>
      </p:sp>
      <p:sp>
        <p:nvSpPr>
          <p:cNvPr id="25" name="Text 22"/>
          <p:cNvSpPr/>
          <p:nvPr/>
        </p:nvSpPr>
        <p:spPr>
          <a:xfrm>
            <a:off x="7381875" y="1828800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A696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Контроль</a:t>
            </a:r>
            <a:endParaRPr lang="en-US" sz="975" dirty="0"/>
          </a:p>
        </p:txBody>
      </p:sp>
      <p:sp>
        <p:nvSpPr>
          <p:cNvPr id="26" name="Text 23"/>
          <p:cNvSpPr/>
          <p:nvPr/>
        </p:nvSpPr>
        <p:spPr>
          <a:xfrm>
            <a:off x="7381875" y="2686050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A696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Прозрачность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7381875" y="3543300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A696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Масштаб</a:t>
            </a:r>
            <a:endParaRPr lang="en-US" sz="975" dirty="0"/>
          </a:p>
        </p:txBody>
      </p:sp>
      <p:sp>
        <p:nvSpPr>
          <p:cNvPr id="28" name="Text 25"/>
          <p:cNvSpPr/>
          <p:nvPr/>
        </p:nvSpPr>
        <p:spPr>
          <a:xfrm>
            <a:off x="8382000" y="4762500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827</Words>
  <Application>Microsoft Office PowerPoint</Application>
  <PresentationFormat>Экран (16:9)</PresentationFormat>
  <Paragraphs>204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Inter SemiBold</vt:lpstr>
      <vt:lpstr>Arial</vt:lpstr>
      <vt:lpstr>Inter Bold</vt:lpstr>
      <vt:lpstr>Inter</vt:lpstr>
      <vt:lpstr>Inter Medium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Роман Меликов</cp:lastModifiedBy>
  <cp:revision>2</cp:revision>
  <dcterms:created xsi:type="dcterms:W3CDTF">2026-05-15T06:11:32Z</dcterms:created>
  <dcterms:modified xsi:type="dcterms:W3CDTF">2026-05-15T08:46:54Z</dcterms:modified>
</cp:coreProperties>
</file>