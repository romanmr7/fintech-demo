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91df8647d74fde" /><Relationship Type="http://schemas.openxmlformats.org/officeDocument/2006/relationships/extended-properties" Target="/docProps/app.xml" Id="Re00908c414484db7" /><Relationship Type="http://schemas.openxmlformats.org/officeDocument/2006/relationships/officeDocument" Target="/ppt/presentation.xml" Id="R63f996815e4c4c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cc346dfd854791"/>
  </p:sldMasterIdLst>
  <p:notesMasterIdLst>
    <p:notesMasterId xmlns:r="http://schemas.openxmlformats.org/officeDocument/2006/relationships" r:id="R03703b95e32c4a1d"/>
  </p:notesMasterIdLst>
  <p:sldIdLst>
    <p:sldId xmlns:r="http://schemas.openxmlformats.org/officeDocument/2006/relationships" id="256" r:id="R3bccd9cfaad74e39"/>
    <p:sldId xmlns:r="http://schemas.openxmlformats.org/officeDocument/2006/relationships" id="257" r:id="Rc153bb8cafcd4baa"/>
    <p:sldId xmlns:r="http://schemas.openxmlformats.org/officeDocument/2006/relationships" id="258" r:id="Rc78a6ec147ad4659"/>
    <p:sldId xmlns:r="http://schemas.openxmlformats.org/officeDocument/2006/relationships" id="259" r:id="R155adf9067e64f7f"/>
    <p:sldId xmlns:r="http://schemas.openxmlformats.org/officeDocument/2006/relationships" id="260" r:id="R089f61bbd6e944c4"/>
    <p:sldId xmlns:r="http://schemas.openxmlformats.org/officeDocument/2006/relationships" id="261" r:id="Rb7901ec17ff74bb6"/>
    <p:sldId xmlns:r="http://schemas.openxmlformats.org/officeDocument/2006/relationships" id="262" r:id="R5f01c0c5e9c04bf6"/>
    <p:sldId xmlns:r="http://schemas.openxmlformats.org/officeDocument/2006/relationships" id="263" r:id="R8f98836675a14e43"/>
    <p:sldId xmlns:r="http://schemas.openxmlformats.org/officeDocument/2006/relationships" id="264" r:id="R3dbe9e77c1aa4e53"/>
    <p:sldId xmlns:r="http://schemas.openxmlformats.org/officeDocument/2006/relationships" id="265" r:id="R9c687c4031dd4b1a"/>
    <p:sldId xmlns:r="http://schemas.openxmlformats.org/officeDocument/2006/relationships" id="266" r:id="Rb502d81989a54649"/>
    <p:sldId xmlns:r="http://schemas.openxmlformats.org/officeDocument/2006/relationships" id="267" r:id="R186deab069744407"/>
    <p:sldId xmlns:r="http://schemas.openxmlformats.org/officeDocument/2006/relationships" id="268" r:id="Rc15233d604fd4898"/>
    <p:sldId xmlns:r="http://schemas.openxmlformats.org/officeDocument/2006/relationships" id="269" r:id="R0f18011df5b348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c346dfd854791" /><Relationship Type="http://schemas.openxmlformats.org/officeDocument/2006/relationships/theme" Target="/ppt/theme/theme1.xml" Id="R27939620acd944be" /><Relationship Type="http://schemas.openxmlformats.org/officeDocument/2006/relationships/notesMaster" Target="/ppt/notesMasters/notesMaster1.xml" Id="R03703b95e32c4a1d" /><Relationship Type="http://schemas.openxmlformats.org/officeDocument/2006/relationships/presProps" Target="/ppt/presProps.xml" Id="R5abaa13974614403" /><Relationship Type="http://schemas.openxmlformats.org/officeDocument/2006/relationships/viewProps" Target="/ppt/viewProps.xml" Id="R11c937f7d8a54e91" /><Relationship Type="http://schemas.openxmlformats.org/officeDocument/2006/relationships/tableStyles" Target="/ppt/tableStyles.xml" Id="Rc3b4d81d65aa46cc" /><Relationship Type="http://schemas.openxmlformats.org/officeDocument/2006/relationships/slide" Target="/ppt/slides/slide1.xml" Id="R3bccd9cfaad74e39" /><Relationship Type="http://schemas.openxmlformats.org/officeDocument/2006/relationships/slide" Target="/ppt/slides/slide2.xml" Id="Rc153bb8cafcd4baa" /><Relationship Type="http://schemas.openxmlformats.org/officeDocument/2006/relationships/slide" Target="/ppt/slides/slide3.xml" Id="Rc78a6ec147ad4659" /><Relationship Type="http://schemas.openxmlformats.org/officeDocument/2006/relationships/slide" Target="/ppt/slides/slide4.xml" Id="R155adf9067e64f7f" /><Relationship Type="http://schemas.openxmlformats.org/officeDocument/2006/relationships/slide" Target="/ppt/slides/slide5.xml" Id="R089f61bbd6e944c4" /><Relationship Type="http://schemas.openxmlformats.org/officeDocument/2006/relationships/slide" Target="/ppt/slides/slide6.xml" Id="Rb7901ec17ff74bb6" /><Relationship Type="http://schemas.openxmlformats.org/officeDocument/2006/relationships/slide" Target="/ppt/slides/slide7.xml" Id="R5f01c0c5e9c04bf6" /><Relationship Type="http://schemas.openxmlformats.org/officeDocument/2006/relationships/slide" Target="/ppt/slides/slide8.xml" Id="R8f98836675a14e43" /><Relationship Type="http://schemas.openxmlformats.org/officeDocument/2006/relationships/slide" Target="/ppt/slides/slide9.xml" Id="R3dbe9e77c1aa4e53" /><Relationship Type="http://schemas.openxmlformats.org/officeDocument/2006/relationships/slide" Target="/ppt/slides/slide10.xml" Id="R9c687c4031dd4b1a" /><Relationship Type="http://schemas.openxmlformats.org/officeDocument/2006/relationships/slide" Target="/ppt/slides/slide11.xml" Id="Rb502d81989a54649" /><Relationship Type="http://schemas.openxmlformats.org/officeDocument/2006/relationships/slide" Target="/ppt/slides/slide12.xml" Id="R186deab069744407" /><Relationship Type="http://schemas.openxmlformats.org/officeDocument/2006/relationships/slide" Target="/ppt/slides/slide13.xml" Id="Rc15233d604fd4898" /><Relationship Type="http://schemas.openxmlformats.org/officeDocument/2006/relationships/slide" Target="/ppt/slides/slide14.xml" Id="R0f18011df5b348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8a704d7bd114a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21c1b16b3d46a3" /><Relationship Type="http://schemas.openxmlformats.org/officeDocument/2006/relationships/notesMaster" Target="/ppt/notesMasters/notesMaster1.xml" Id="R6faf6ab58e7a48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1e0778a586459b" /><Relationship Type="http://schemas.openxmlformats.org/officeDocument/2006/relationships/notesMaster" Target="/ppt/notesMasters/notesMaster1.xml" Id="R93a2036f141245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4ee963fa4e4e55" /><Relationship Type="http://schemas.openxmlformats.org/officeDocument/2006/relationships/notesMaster" Target="/ppt/notesMasters/notesMaster1.xml" Id="R074933ecee0c49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f5033567c747f6" /><Relationship Type="http://schemas.openxmlformats.org/officeDocument/2006/relationships/notesMaster" Target="/ppt/notesMasters/notesMaster1.xml" Id="R7ca3759b8fef4b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423c8aa7ea4395" /><Relationship Type="http://schemas.openxmlformats.org/officeDocument/2006/relationships/notesMaster" Target="/ppt/notesMasters/notesMaster1.xml" Id="R1bd298de0e5246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2a0d527b694975" /><Relationship Type="http://schemas.openxmlformats.org/officeDocument/2006/relationships/notesMaster" Target="/ppt/notesMasters/notesMaster1.xml" Id="R9a52909b06d94b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be791acb4b4148" /><Relationship Type="http://schemas.openxmlformats.org/officeDocument/2006/relationships/notesMaster" Target="/ppt/notesMasters/notesMaster1.xml" Id="Reb7b04d650c045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5559a3718b45bb" /><Relationship Type="http://schemas.openxmlformats.org/officeDocument/2006/relationships/notesMaster" Target="/ppt/notesMasters/notesMaster1.xml" Id="Rbaaaeb8be28c40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33c169d4d14389" /><Relationship Type="http://schemas.openxmlformats.org/officeDocument/2006/relationships/notesMaster" Target="/ppt/notesMasters/notesMaster1.xml" Id="R0f0575e3d8d347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7358c6078d4ac1" /><Relationship Type="http://schemas.openxmlformats.org/officeDocument/2006/relationships/notesMaster" Target="/ppt/notesMasters/notesMaster1.xml" Id="R112211a469424a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6d05ad8de84c9f" /><Relationship Type="http://schemas.openxmlformats.org/officeDocument/2006/relationships/notesMaster" Target="/ppt/notesMasters/notesMaster1.xml" Id="R54ef88f0c33844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44f4845a4b429e" /><Relationship Type="http://schemas.openxmlformats.org/officeDocument/2006/relationships/notesMaster" Target="/ppt/notesMasters/notesMaster1.xml" Id="Rabc7478a04f840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fa17e1f97046d0" /><Relationship Type="http://schemas.openxmlformats.org/officeDocument/2006/relationships/notesMaster" Target="/ppt/notesMasters/notesMaster1.xml" Id="R1dbb60ea9a1a44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afe44cd1274d05" /><Relationship Type="http://schemas.openxmlformats.org/officeDocument/2006/relationships/notesMaster" Target="/ppt/notesMasters/notesMaster1.xml" Id="Rd38b72dcbdaa4f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Открыть как разговор: это не просто презентация, а продуктовый прототип, который можно запустить и покликать.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Когда оборот растет, хаос в статусах, балансах и спорных операциях быстро превращается в финансовый риск.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Главная ценность: любой участник видит, что произошло с деньгами, кто отвечает и какой следующий шаг.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 можно использовать как sales-инструмент, investor demo, ТЗ для команды или прототип для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Решение интересно тем, кто работает с платежным оборотом, ручной операционкой, выплатами и спорными ситуациями.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Каждое изменение статуса связано с финансовым смыслом: где деньги, доступны ли они и можно ли считать комиссию заработанной.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production это масштабируется в полноценный RBAC, права доступа и аудит действий.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Пользователь нажимает шаги и видит, что меняется: статусы, баланс, апелляции, уведомления и журнал.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Демо-формула: 10 млн RUB pay-in × 2.5% + 4 млн RUB payout × 1.5% = 310 000 RUB валовой комиссии в месяц.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демонстрационная модель, не гарантия доходности. Реальные цифры зависят от ниши, провайдеров, риска, налогов и стоимости операций.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 помогает быстро понять состояние платежей, уменьшить ручной труд и объяснить финансовые изменения.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Вместо идеи на словах есть продуктовый контур, который можно открыть, пройти и обсудить с рынком.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Сильная сторона прототипа: он уже задает бизнес-структуру продукта и ускоряет постановку задач команде.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встречи: перейти от абстрактной идеи к конкретной модели продукта, денег и запуска.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de0b2ba0eb449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AF0CBAE2-2656-43AE-9358-ABA28117F22F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D14926BD-C8E6-4AED-BC73-9F5D0ACD8816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1148F73-0CA8-4382-8748-0F1BE943FA4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9B4EBA-50ED-4639-8B0C-980BB556697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77CB49-456C-44C5-A1DF-1C5E9F356F9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308cc0218314a8c" /><Relationship Type="http://schemas.openxmlformats.org/officeDocument/2006/relationships/slideLayout" Target="/ppt/slideLayouts/slideLayout2.xml" Id="R7e1373d14d6949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60C0CE-8C77-417B-B00E-27E3657A975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1373d14d6949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215f0692574c8a" /><Relationship Type="http://schemas.openxmlformats.org/officeDocument/2006/relationships/notesSlide" Target="/ppt/notesSlides/notesSlide1.xml" Id="R5c7a063ba0984b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89482e20c54d18" /><Relationship Type="http://schemas.openxmlformats.org/officeDocument/2006/relationships/notesSlide" Target="/ppt/notesSlides/notesSlide2.xml" Id="R0c4eac398c404c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997db3a0244811" /><Relationship Type="http://schemas.openxmlformats.org/officeDocument/2006/relationships/notesSlide" Target="/ppt/notesSlides/notesSlide3.xml" Id="Re8b658f5101c45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d5b45803b34e42" /><Relationship Type="http://schemas.openxmlformats.org/officeDocument/2006/relationships/notesSlide" Target="/ppt/notesSlides/notesSlide4.xml" Id="R97dd4b67cbef46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e2055a0dd9488d" /><Relationship Type="http://schemas.openxmlformats.org/officeDocument/2006/relationships/notesSlide" Target="/ppt/notesSlides/notesSlide5.xml" Id="R6fa25d23c7d643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28c1ef5fb64a21" /><Relationship Type="http://schemas.openxmlformats.org/officeDocument/2006/relationships/notesSlide" Target="/ppt/notesSlides/notesSlide6.xml" Id="R76d824ae85ae45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dab25f33984b26" /><Relationship Type="http://schemas.openxmlformats.org/officeDocument/2006/relationships/notesSlide" Target="/ppt/notesSlides/notesSlide7.xml" Id="Rdd4e3c66eb4642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0ffaad0b4640cc" /><Relationship Type="http://schemas.openxmlformats.org/officeDocument/2006/relationships/notesSlide" Target="/ppt/notesSlides/notesSlide8.xml" Id="R7311844e8c554f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16822f12ca4194" /><Relationship Type="http://schemas.openxmlformats.org/officeDocument/2006/relationships/notesSlide" Target="/ppt/notesSlides/notesSlide9.xml" Id="R7b2af3fa0a604f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39b3807c71454e" /><Relationship Type="http://schemas.openxmlformats.org/officeDocument/2006/relationships/notesSlide" Target="/ppt/notesSlides/notesSlide10.xml" Id="R2d1a7b2ce74f46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69200651da409e" /><Relationship Type="http://schemas.openxmlformats.org/officeDocument/2006/relationships/notesSlide" Target="/ppt/notesSlides/notesSlide11.xml" Id="R75bc7037c4b749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6b8450dd974705" /><Relationship Type="http://schemas.openxmlformats.org/officeDocument/2006/relationships/notesSlide" Target="/ppt/notesSlides/notesSlide12.xml" Id="R7d6c6eb21a7a42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30ab44af1b49a5" /><Relationship Type="http://schemas.openxmlformats.org/officeDocument/2006/relationships/notesSlide" Target="/ppt/notesSlides/notesSlide13.xml" Id="Rd8df42ae79a147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b51213ca324629" /><Relationship Type="http://schemas.openxmlformats.org/officeDocument/2006/relationships/notesSlide" Target="/ppt/notesSlides/notesSlide14.xml" Id="R110d95ad7f4d48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77CB49-456C-44C5-A1DF-1C5E9F356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D5406-0ACF-4B17-ADA5-B7045D9E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000250"/>
            <a:ext cx="5524500" cy="552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FFD53-EBD3-497C-9C55-FCAE57BC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20955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25ED7-55A4-421E-BF75-18650F61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62500"/>
            <a:ext cx="39052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7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C67ED-6A4F-4B42-9889-7B166E47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FCFB8-F459-484E-877D-DFE43A2D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C08CC-7DD2-41B1-88B5-AF48BDC2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5BA6E-0489-43CA-A44A-63C2BEEB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A5E0E-3786-4972-AC63-4690C63F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F2307-0D10-4967-B759-D8D86750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19AB1-B052-4345-BBB7-4BEA8724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49FE5-9310-47A4-A79F-9AA01D00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7E24F-94CD-432B-8001-01B87883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F37"/>
                </a:solidFill>
              </a:defRPr>
            </a:pPr>
            <a:r>
              <a:rPr sz="900" b="1">
                <a:solidFill>
                  <a:srgbClr val="173F37"/>
                </a:solidFill>
              </a:rPr>
              <a:t>01 /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19699-F37C-4BD2-8B84-C064B92A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F726C-0374-45C1-8208-5D036997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0490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A6E"/>
                </a:solidFill>
              </a:defRPr>
            </a:pPr>
            <a:r>
              <a:rPr sz="1050" b="1">
                <a:solidFill>
                  <a:srgbClr val="0B7A6E"/>
                </a:solidFill>
              </a:rPr>
              <a:t>INVESTOR / CLIENT PITCH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15CE8-F984-4CA5-AAD2-E9CC1911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7524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2231E"/>
                </a:solidFill>
              </a:defRPr>
            </a:pPr>
            <a:r>
              <a:rPr sz="3525" b="1">
                <a:solidFill>
                  <a:srgbClr val="12231E"/>
                </a:solidFill>
              </a:rPr>
              <a:t>Платежная платформа, которую можно понять за 15 минут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BFD22B-44A0-4D3C-819C-1B225669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657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3B"/>
                </a:solidFill>
              </a:defRPr>
            </a:pPr>
            <a:r>
              <a:rPr sz="1425" b="0">
                <a:solidFill>
                  <a:srgbClr val="31413B"/>
                </a:solidFill>
              </a:rPr>
              <a:t>Рабочий интерактивный прототип для демонстрации приема платежей, выплат, балансов, апелляций, ролей, статусов и экономики fintech/SaaS-продукта.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DBBFF-603A-4A31-910A-DA2B7D65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495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231E">
              <a:alpha val="94118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E33EE-8247-4D21-B63D-A5E7AC1C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4457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0E4"/>
                </a:solidFill>
              </a:defRPr>
            </a:pPr>
            <a:r>
              <a:rPr sz="1200" b="1">
                <a:solidFill>
                  <a:srgbClr val="F6F0E4"/>
                </a:solidFill>
              </a:rPr>
              <a:t>Pay-in · Payout · Балансы · Споры · API · Аудит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21E41-EE83-4967-B183-A40766EA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162050"/>
            <a:ext cx="3143250" cy="4286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CAA0AD-2F27-4629-B1E5-375C3850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1085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7A6E">
              <a:alpha val="12549"/>
            </a:srgbClr>
          </a:solidFill>
          <a:ln xmlns:a="http://schemas.openxmlformats.org/drawingml/2006/main" w="9525">
            <a:solidFill>
              <a:srgbClr val="12231E">
                <a:alpha val="7059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70ACA9-08F7-4687-9BE9-D118B2B9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288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Ордера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6B7C2-245C-4167-9C62-DC731097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676400"/>
            <a:ext cx="1085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88438">
              <a:alpha val="12549"/>
            </a:srgbClr>
          </a:solidFill>
          <a:ln xmlns:a="http://schemas.openxmlformats.org/drawingml/2006/main" w="9525">
            <a:solidFill>
              <a:srgbClr val="12231E">
                <a:alpha val="7059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C34775-E6AC-4B7F-84C6-FBAAC7B8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288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Выплаты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BB5C7-9DAB-4FCD-9563-14B7E962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1085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7A6E">
              <a:alpha val="12549"/>
            </a:srgbClr>
          </a:solidFill>
          <a:ln xmlns:a="http://schemas.openxmlformats.org/drawingml/2006/main" w="9525">
            <a:solidFill>
              <a:srgbClr val="12231E">
                <a:alpha val="7059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1FBFB3-844D-4522-BA62-B241D1FF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Балансы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BFF96-FEE3-4FF4-967A-FEB98F5F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95550"/>
            <a:ext cx="1085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88438">
              <a:alpha val="12549"/>
            </a:srgbClr>
          </a:solidFill>
          <a:ln xmlns:a="http://schemas.openxmlformats.org/drawingml/2006/main" w="9525">
            <a:solidFill>
              <a:srgbClr val="12231E">
                <a:alpha val="7059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B2C6D8-CE4A-4C12-9A88-0C31B49F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479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Апелляции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5402CB-44CE-4EED-9F11-C5BCCF4B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14700"/>
            <a:ext cx="1085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7A6E">
              <a:alpha val="12549"/>
            </a:srgbClr>
          </a:solidFill>
          <a:ln xmlns:a="http://schemas.openxmlformats.org/drawingml/2006/main" w="9525">
            <a:solidFill>
              <a:srgbClr val="12231E">
                <a:alpha val="7059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A7351C-FDFF-4D93-A037-7DA1B594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671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39BF78-5C73-4B37-A7BF-7F1B7F74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14700"/>
            <a:ext cx="1085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88438">
              <a:alpha val="12549"/>
            </a:srgbClr>
          </a:solidFill>
          <a:ln xmlns:a="http://schemas.openxmlformats.org/drawingml/2006/main" w="9525">
            <a:solidFill>
              <a:srgbClr val="12231E">
                <a:alpha val="7059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57F229-BF97-4AF3-94BC-1C5EFD17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671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Журнал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C837B4-07C4-4891-8CA3-F118DF9C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10100"/>
            <a:ext cx="2628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6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F37"/>
                </a:solidFill>
              </a:defRPr>
            </a:pPr>
            <a:r>
              <a:rPr sz="1350" b="1">
                <a:solidFill>
                  <a:srgbClr val="173F37"/>
                </a:solidFill>
              </a:rPr>
              <a:t>Открывается в браузере</a:t>
            </a:r>
          </a:p>
          <a:p xmlns:a="http://schemas.openxmlformats.org/drawingml/2006/main">
            <a:pPr algn="ctr">
              <a:defRPr sz="1350" b="1">
                <a:solidFill>
                  <a:srgbClr val="173F37"/>
                </a:solidFill>
              </a:defRPr>
            </a:pPr>
            <a:r>
              <a:rPr sz="1350" b="1">
                <a:solidFill>
                  <a:srgbClr val="173F37"/>
                </a:solidFill>
              </a:rPr>
              <a:t>и показывает живую бизнес-логику</a:t>
            </a:r>
          </a:p>
        </p:txBody>
      </p:sp>
    </p:spTree>
    <p:extLst>
      <p:ext uri="{BB962C8B-B14F-4D97-AF65-F5344CB8AC3E}">
        <p14:creationId xmlns:p14="http://schemas.microsoft.com/office/powerpoint/2010/main" val="4544005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77CB49-456C-44C5-A1DF-1C5E9F356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4AE0A-1702-4452-AB8D-2553E498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000250"/>
            <a:ext cx="5524500" cy="552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A0E1A-DFF1-43EA-B4AA-282D24B7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20955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8FE51-CE4B-41FD-8B61-459F19FD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62500"/>
            <a:ext cx="39052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7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0AADD-C848-45BE-AA8C-6A248DF2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6078E-01A1-41B5-8DDD-AC9C219A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9FA57-077A-4EE8-BB14-E55DF65A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F4153-5AD4-4937-A8D1-0B35E507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C1A5C-2A9B-4E81-BDDD-BA9BA1A1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F6FC6-2C1B-4D1C-A157-08856F8F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458DC-C72C-4E89-B198-62597130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B717F-6331-4AF6-BF2B-10D66122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CCA7F-7B8C-4740-87F5-49E3AD0B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F37"/>
                </a:solidFill>
              </a:defRPr>
            </a:pPr>
            <a:r>
              <a:rPr sz="900" b="1">
                <a:solidFill>
                  <a:srgbClr val="173F37"/>
                </a:solidFill>
              </a:rPr>
              <a:t>02 /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2CD07-DCA1-4D56-97A7-14143CF6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A6E"/>
                </a:solidFill>
              </a:defRPr>
            </a:pPr>
            <a:r>
              <a:rPr sz="975" b="1">
                <a:solidFill>
                  <a:srgbClr val="0B7A6E"/>
                </a:solidFill>
              </a:rPr>
              <a:t>01 · БОЛЬ РЫНКА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CDDDA-50B3-4F42-9F34-FED05A86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1B192-C906-4802-B66E-5CAE7001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732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231E"/>
                </a:solidFill>
              </a:defRPr>
            </a:pPr>
            <a:r>
              <a:rPr sz="2925" b="1">
                <a:solidFill>
                  <a:srgbClr val="12231E"/>
                </a:solidFill>
              </a:rPr>
              <a:t>Платежные процессы часто живут в разрозненных таблицах, чатах и ручных решениях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1E380-C4A4-4F73-B518-2E45D226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66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Когда оборот растет, хаос в статусах, балансах и спорных операциях быстро превращается в финансовый риск.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AF1AD-BFC2-4D96-980D-618F0BBB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5B8CA-C516-4504-B2C0-50B6F170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C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4A5F4-CF36-44B6-B3B9-CA5346D7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7F2CD2-EDD2-423F-8F0A-605E73BB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00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C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77FE3-9889-4568-9438-79DBA264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14775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4C4C"/>
                </a:solidFill>
              </a:defRPr>
            </a:pPr>
            <a:r>
              <a:rPr sz="1200" b="1">
                <a:solidFill>
                  <a:srgbClr val="B84C4C"/>
                </a:solidFill>
              </a:rPr>
              <a:t>Нет единой картины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E656A5-D6FC-4B7D-853C-EF65D147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1413B"/>
                </a:solidFill>
              </a:defRPr>
            </a:pPr>
            <a:r>
              <a:rPr sz="1125" b="0">
                <a:solidFill>
                  <a:srgbClr val="31413B"/>
                </a:solidFill>
              </a:rPr>
              <a:t>Мерчант, оператор, финансы и support видят разные фрагменты процесса.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A484CA-8C81-46F1-BB09-FFCB3614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F26268-09C1-40D7-AC48-344A6CD3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1CD1DB-99BF-4B73-8925-1AC11829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05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0F9C21-DEC0-4BE2-A034-E31182B8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100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056882-4716-4898-A110-1DCEB012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14775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438"/>
                </a:solidFill>
              </a:defRPr>
            </a:pPr>
            <a:r>
              <a:rPr sz="1200" b="1">
                <a:solidFill>
                  <a:srgbClr val="B88438"/>
                </a:solidFill>
              </a:rPr>
              <a:t>Сложно объяснить деньги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975945-191D-4F34-A51E-4064FA27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00550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1413B"/>
                </a:solidFill>
              </a:defRPr>
            </a:pPr>
            <a:r>
              <a:rPr sz="1125" b="0">
                <a:solidFill>
                  <a:srgbClr val="31413B"/>
                </a:solidFill>
              </a:rPr>
              <a:t>Не всегда понятно, почему баланс изменился, где холд и какая комиссия удержана.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45C96E-C337-425C-AE46-FCA7B86C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FE4AB6-38A9-4F66-A62A-67B09BD5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5FE363-126A-43F8-85CB-9869982E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DADA77-DBC5-4C3F-9A2F-19F01AE9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100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10DFE7-F83D-428D-B3C3-10E578C2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14775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A6E"/>
                </a:solidFill>
              </a:defRPr>
            </a:pPr>
            <a:r>
              <a:rPr sz="1200" b="1">
                <a:solidFill>
                  <a:srgbClr val="0B7A6E"/>
                </a:solidFill>
              </a:rPr>
              <a:t>Споры съедают маржу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841D61-B87A-4E9D-B76D-95E92AC9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00550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1413B"/>
                </a:solidFill>
              </a:defRPr>
            </a:pPr>
            <a:r>
              <a:rPr sz="1125" b="0">
                <a:solidFill>
                  <a:srgbClr val="31413B"/>
                </a:solidFill>
              </a:rPr>
              <a:t>Апелляции без четкого workflow увеличивают потери, нагрузку на support и недоверие клиентов.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A2E434-6C6F-4560-A460-2EF9C087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38800"/>
            <a:ext cx="895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231E">
              <a:alpha val="94118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F4D9D7-EB6E-4F9E-B463-01292210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7912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8438"/>
                </a:solidFill>
              </a:defRPr>
            </a:pPr>
            <a:r>
              <a:rPr sz="1800" b="1">
                <a:solidFill>
                  <a:srgbClr val="B88438"/>
                </a:solidFill>
              </a:rPr>
              <a:t>1 спор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565826-2606-4810-A91C-022E5D67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10250"/>
            <a:ext cx="676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0E4"/>
                </a:solidFill>
              </a:defRPr>
            </a:pPr>
            <a:r>
              <a:rPr sz="1200" b="0">
                <a:solidFill>
                  <a:srgbClr val="F6F0E4"/>
                </a:solidFill>
              </a:rPr>
              <a:t>может заблокировать сумму, статус, выплату и коммуникацию с клиентом одновременно</a:t>
            </a:r>
          </a:p>
        </p:txBody>
      </p:sp>
    </p:spTree>
    <p:extLst>
      <p:ext uri="{BB962C8B-B14F-4D97-AF65-F5344CB8AC3E}">
        <p14:creationId xmlns:p14="http://schemas.microsoft.com/office/powerpoint/2010/main" val="9382680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77CB49-456C-44C5-A1DF-1C5E9F356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1CB83-1677-4F8D-B492-CCA6EB42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000250"/>
            <a:ext cx="5524500" cy="552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FF162-1B74-46E6-B737-13712CAF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20955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C3A2C-8D65-4E18-87A8-FE0623D9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62500"/>
            <a:ext cx="39052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7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D57EB-FA85-4696-BFF7-3F5733E9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4C9D2-2B97-485D-A708-21B59268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D9BDE-176E-4377-B813-9D834BE2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9A001-332F-4CB2-9AAE-A51AB25F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AD40F-30EC-429A-BD54-2E0A9C3A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F7664-DDC5-4EEB-8C44-501BBDDD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5AAB7-6AAD-48D2-ACD8-1EF6F6E0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3949E-147C-49D9-9632-7B42132E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96D4C-5129-47F8-A023-B987227D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F37"/>
                </a:solidFill>
              </a:defRPr>
            </a:pPr>
            <a:r>
              <a:rPr sz="900" b="1">
                <a:solidFill>
                  <a:srgbClr val="173F37"/>
                </a:solidFill>
              </a:rPr>
              <a:t>03 /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BAB5A-AF6A-40E2-A548-868821F4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A6E"/>
                </a:solidFill>
              </a:defRPr>
            </a:pPr>
            <a:r>
              <a:rPr sz="975" b="1">
                <a:solidFill>
                  <a:srgbClr val="0B7A6E"/>
                </a:solidFill>
              </a:rPr>
              <a:t>02 · РЕШЕНИЕ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F80BA-F919-49AC-AAC8-2A8DF737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37B78-39E6-43AC-AA09-1D10DDA6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42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231E"/>
                </a:solidFill>
              </a:defRPr>
            </a:pPr>
            <a:r>
              <a:rPr sz="2925" b="1">
                <a:solidFill>
                  <a:srgbClr val="12231E"/>
                </a:solidFill>
              </a:rPr>
              <a:t>Единый операционный слой для платежей, выплат и финансового контроля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5E444-59D1-4B70-A77B-F2AAE1FF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Прототип показывает, как продукт объединяет бизнес-логику, роли, статусы, балансы и аудит в одной управляемой системе.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2BC87-D1A4-43B1-9398-8981B61E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476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CCE92-0518-4ACC-809B-90EC9D24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7A56E-7B53-422D-BBD8-DF4385F3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53DEE-BB48-447D-B751-B962CD5F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4807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99616-4252-4933-A9A7-DE27BB34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337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A6E"/>
                </a:solidFill>
              </a:defRPr>
            </a:pPr>
            <a:r>
              <a:rPr sz="1125" b="1">
                <a:solidFill>
                  <a:srgbClr val="0B7A6E"/>
                </a:solidFill>
              </a:rPr>
              <a:t>Прием платежей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D28B6E-AE16-4526-8F4E-393D0C31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10000"/>
            <a:ext cx="377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Ордер, реквизиты, провайдер, статус, комиссия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B4D5A-1EEB-45A3-BE49-A7FA74DD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476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605F2-0B69-4A2A-AA34-285F6602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2FAD0C-0348-4DCD-A92B-ED4CF433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154C69-2B64-4F0A-830D-6F0C4EFE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4807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160553-C4AA-4239-AFE0-8989F1CD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337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438"/>
                </a:solidFill>
              </a:defRPr>
            </a:pPr>
            <a:r>
              <a:rPr sz="1125" b="1">
                <a:solidFill>
                  <a:srgbClr val="B88438"/>
                </a:solidFill>
              </a:rPr>
              <a:t>Выплаты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A3FA54-FE8E-43B7-99FA-FE481621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10000"/>
            <a:ext cx="377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Заявка, холд, подтверждение, списание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84C5AC-CC8A-43DE-B476-CC58D163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476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F88D65-1771-4C9B-99EC-32795987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AE1011-6FCE-4AAE-9F59-43A52CC5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D51984-C282-4AB4-A6E6-101291F1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1487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FA8BED-A56A-4CCE-8847-6504272F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005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A6E"/>
                </a:solidFill>
              </a:defRPr>
            </a:pPr>
            <a:r>
              <a:rPr sz="1125" b="1">
                <a:solidFill>
                  <a:srgbClr val="0B7A6E"/>
                </a:solidFill>
              </a:rPr>
              <a:t>Балансы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61751B-BDE7-4949-9CA6-28D1F589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76800"/>
            <a:ext cx="377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Доступно, заморожено, комиссии, история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837C48-EFFF-463E-82CC-BC590FA1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19600"/>
            <a:ext cx="476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DC1678-CA15-47B6-8A61-A0727B70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196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3DE4A6-2CCC-4DC3-B94B-60566553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0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DE5464-DC78-44F8-BCB8-C495B1BC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1487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2EC519-B769-4A2C-A93B-BFCDC3FA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005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438"/>
                </a:solidFill>
              </a:defRPr>
            </a:pPr>
            <a:r>
              <a:rPr sz="1125" b="1">
                <a:solidFill>
                  <a:srgbClr val="B88438"/>
                </a:solidFill>
              </a:rPr>
              <a:t>Апелляции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956392-6964-4EBB-ACCD-723BDBA9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76800"/>
            <a:ext cx="377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Причина, ответственный, комментарии, решение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C20B20-6E14-49D7-8B31-60FF7CF7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0"/>
            <a:ext cx="914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7A6E">
              <a:alpha val="12157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941255-4B5F-47E5-B171-307BB548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67400"/>
            <a:ext cx="853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F37"/>
                </a:solidFill>
              </a:defRPr>
            </a:pPr>
            <a:r>
              <a:rPr sz="1275" b="1">
                <a:solidFill>
                  <a:srgbClr val="173F37"/>
                </a:solidFill>
              </a:rPr>
              <a:t>Главная ценность: любой участник видит, что произошло с деньгами, кто отвечает и какой следующий шаг.</a:t>
            </a:r>
          </a:p>
        </p:txBody>
      </p:sp>
    </p:spTree>
    <p:extLst>
      <p:ext uri="{BB962C8B-B14F-4D97-AF65-F5344CB8AC3E}">
        <p14:creationId xmlns:p14="http://schemas.microsoft.com/office/powerpoint/2010/main" val="8797112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77CB49-456C-44C5-A1DF-1C5E9F356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8CA0E-DD0C-4C46-A632-587DE24C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000250"/>
            <a:ext cx="5524500" cy="552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2CEE0-022A-43C1-A632-70B53641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20955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C14BC-F6EB-47C0-A9B6-E8937308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62500"/>
            <a:ext cx="39052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7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2788D-ADF9-4D23-B23A-4D83304F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75222-1E7C-41E6-9C6E-BB82AB28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687F8-002B-44A6-93C0-CA50780C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5DE29-EF9D-45BD-B15D-73B5AEC6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861BE-5387-4741-9089-316A52E1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84925-D8E9-489D-8572-39B96CF1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B343F-DB23-4099-AF5A-11AEEF30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0A449-8C63-42C0-B325-72C0D505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9B234-D33A-4B50-A43A-4A9209CB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F37"/>
                </a:solidFill>
              </a:defRPr>
            </a:pPr>
            <a:r>
              <a:rPr sz="900" b="1">
                <a:solidFill>
                  <a:srgbClr val="173F37"/>
                </a:solidFill>
              </a:rPr>
              <a:t>04 /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D73E2-94D0-4843-AA13-6F8CCB0D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A6E"/>
                </a:solidFill>
              </a:defRPr>
            </a:pPr>
            <a:r>
              <a:rPr sz="975" b="1">
                <a:solidFill>
                  <a:srgbClr val="0B7A6E"/>
                </a:solidFill>
              </a:rPr>
              <a:t>03 · ЧТО УЖЕ МОЖНО ПОКАЗАТЬ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6C1E6-A554-4B9C-A289-27D9602C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E9399-C9BD-4A14-8478-BC329774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231E"/>
                </a:solidFill>
              </a:defRPr>
            </a:pPr>
            <a:r>
              <a:rPr sz="2925" b="1">
                <a:solidFill>
                  <a:srgbClr val="12231E"/>
                </a:solidFill>
              </a:rPr>
              <a:t>Внутри уже есть рабочий контур продукта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0A790-297C-48DD-AA18-15C63727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38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Это не статичный макет: действия меняют данные, а события отражаются в связанных модулях.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CAB00-0D5B-4E74-9ED2-3ADC51D7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362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7A6E">
              <a:alpha val="941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E8F897-AE04-41A1-83CE-2157CA22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Дашборд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6D197-5E2B-4534-A6B3-6FA9F86D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362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B88438">
              <a:alpha val="941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E22A23-787D-4974-933F-84EB90D8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81375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Ордера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BFA9A6-1F73-4565-8127-96B438FA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2362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5AD6EC-DB1C-4940-887C-3E5206A8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81375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Выплаты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86DF4-32FE-46C6-84D3-4C3D3A06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19450"/>
            <a:ext cx="2362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7A6E">
              <a:alpha val="941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DD9686-EAB8-41B1-8204-5EEF3C7A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81375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Реквизиты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E6FD4-3AC0-4F8A-B8A9-970BC571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362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B88438">
              <a:alpha val="941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12467F-567D-4E00-81E2-64912EFC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43375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Балансы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F084C1-71BC-425E-B9BE-56F622E1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81450"/>
            <a:ext cx="2362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02C30D-A359-4650-BE9D-6288430B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43375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Комиссии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9F30DF-ACA3-41B7-A53E-211ED04F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81450"/>
            <a:ext cx="2362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7A6E">
              <a:alpha val="941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FE921F-2961-4699-A51A-4DC2C98A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43375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Апелляции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C1215C-492F-42F7-A557-FA53802F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81450"/>
            <a:ext cx="2362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B88438">
              <a:alpha val="941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B81393-A27D-4F8E-BB7A-B715CBA4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43375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Уведомления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5377E7-426E-462F-B7DC-E59F1140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2362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D9923A-CF1B-41DE-98D1-C736C2ED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05375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Журнал событий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9D39FA-4013-4FA1-BD92-70B0C49C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43450"/>
            <a:ext cx="2362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7A6E">
              <a:alpha val="941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DAADEF-4963-491E-8E46-DD982543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05375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Интеграции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43969C-0346-4C0E-8D89-0699FD70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43450"/>
            <a:ext cx="2362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B88438">
              <a:alpha val="941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8641A1-B9C4-4149-9383-A1AF3AF3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05375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API-демо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258BC1-7675-4F71-BC48-4B702079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43450"/>
            <a:ext cx="2362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ABD252-9C4E-4F45-9ECA-EE5F1453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05375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Карта процессов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FAD7E8-1B87-4E60-9FD9-9C625655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933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231E">
              <a:alpha val="93725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4A7700-1B79-4B2E-A6FF-8449BAE4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905500"/>
            <a:ext cx="868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0E4"/>
                </a:solidFill>
              </a:defRPr>
            </a:pPr>
            <a:r>
              <a:rPr sz="1200" b="1">
                <a:solidFill>
                  <a:srgbClr val="F6F0E4"/>
                </a:solidFill>
              </a:rPr>
              <a:t>Демо можно использовать как sales-инструмент, investor demo, ТЗ для команды или прототип для пилота.</a:t>
            </a:r>
          </a:p>
        </p:txBody>
      </p:sp>
    </p:spTree>
    <p:extLst>
      <p:ext uri="{BB962C8B-B14F-4D97-AF65-F5344CB8AC3E}">
        <p14:creationId xmlns:p14="http://schemas.microsoft.com/office/powerpoint/2010/main" val="2917814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77CB49-456C-44C5-A1DF-1C5E9F356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C8CF1-4DDD-4CF7-AB0B-73F1345A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000250"/>
            <a:ext cx="5524500" cy="552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1040D-F87E-4F08-8763-A5DC735A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20955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EAD29-9740-406E-9FAD-BA8C388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62500"/>
            <a:ext cx="39052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7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FAE9F-5615-4E7F-833E-BEB34436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E27F8-9569-46A9-9BA2-6AA4A182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24CB6-2032-4DCD-8573-017B4297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20D43-4D27-4773-B1F8-6DD37148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2C542-5374-45FD-B38E-08CBCBC0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4702F-5B51-4564-968F-13BA69B2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2B819-984D-46CB-977A-379A1511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186EE-791D-4475-BFA3-43EFBD2D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B7639-2EF9-473D-BBA0-FD3C6F3C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F37"/>
                </a:solidFill>
              </a:defRPr>
            </a:pPr>
            <a:r>
              <a:rPr sz="900" b="1">
                <a:solidFill>
                  <a:srgbClr val="173F37"/>
                </a:solidFill>
              </a:rPr>
              <a:t>05 /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6AF54-6782-4ACB-AD59-6D846DEE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A6E"/>
                </a:solidFill>
              </a:defRPr>
            </a:pPr>
            <a:r>
              <a:rPr sz="975" b="1">
                <a:solidFill>
                  <a:srgbClr val="0B7A6E"/>
                </a:solidFill>
              </a:rPr>
              <a:t>04 · ДЛЯ КОГО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94A50-11EB-45E8-A159-6790E4BD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4D71D-17D2-4C3A-BB3D-64D0F8D0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231E"/>
                </a:solidFill>
              </a:defRPr>
            </a:pPr>
            <a:r>
              <a:rPr sz="2925" b="1">
                <a:solidFill>
                  <a:srgbClr val="12231E"/>
                </a:solidFill>
              </a:rPr>
              <a:t>Кому это можно продавать или показывать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A2B43-9B63-4517-9607-69436F2F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38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Решение интересно тем, кто работает с платежным оборотом, ручной операционкой, выплатами и спорными ситуациями.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A66BE0-7A05-437A-B1CE-C7BE753C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762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66D11-1695-4B95-AF0E-6667AE25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8B6C10-A102-4F7F-B145-8EBA9C18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43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56481-AB4C-490E-BD29-2A97D7C2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4807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F3DC22-6D5C-4F79-AB23-AF489EC9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337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A6E"/>
                </a:solidFill>
              </a:defRPr>
            </a:pPr>
            <a:r>
              <a:rPr sz="1125" b="1">
                <a:solidFill>
                  <a:srgbClr val="0B7A6E"/>
                </a:solidFill>
              </a:rPr>
              <a:t>Онлайн-мерчанты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681246-88EE-44C3-AD75-F7BBD8C8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0"/>
            <a:ext cx="377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Нужно принимать платежи, выводить средства и видеть прозрачный баланс.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F4E09-DA68-4E28-AF77-436F90AC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4762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640542-D9F2-49FF-BB5A-2E00D071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ADE9C7-6972-46FD-9641-A02A698A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3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ABDB9E-1DA8-4A5D-8BB7-0AA29BBF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4807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1A61DE-B096-4263-B2D7-BF3628B4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337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A6E"/>
                </a:solidFill>
              </a:defRPr>
            </a:pPr>
            <a:r>
              <a:rPr sz="1125" b="1">
                <a:solidFill>
                  <a:srgbClr val="0B7A6E"/>
                </a:solidFill>
              </a:rPr>
              <a:t>Платежные команды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91C428-40E3-4C72-9D74-75E1D5D3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377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Нужен внутренний back-office для операторов, финансов и support.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D6BDC7-2799-48AC-A6D8-32E48B36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762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E9191A-7FE0-4C6C-9015-C88125F8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9D9E01-680D-4B11-B7B1-0C44D257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05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2B9CFE-DBBD-400A-B8C9-DF8017F8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01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E836AF-C757-4559-8FBD-2C5E80DF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95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A6E"/>
                </a:solidFill>
              </a:defRPr>
            </a:pPr>
            <a:r>
              <a:rPr sz="1125" b="1">
                <a:solidFill>
                  <a:srgbClr val="0B7A6E"/>
                </a:solidFill>
              </a:rPr>
              <a:t>PSP / агрегаторы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32568E-A4A1-4D84-BAEC-5EAC294C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72050"/>
            <a:ext cx="377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Нужен слой маршрутизации, статусов, провайдеров и аудита.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996FE8-636F-4C6A-B503-74B924E2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4762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3A65F8-6CF5-4B70-AC41-5F5C64DF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039A38-C780-4386-A88F-078C2304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0B1EC4-AD75-4E40-B2DC-05BC49FD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01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DB853D-ED1D-48C8-A33D-B2E8A93A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95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438"/>
                </a:solidFill>
              </a:defRPr>
            </a:pPr>
            <a:r>
              <a:rPr sz="1125" b="1">
                <a:solidFill>
                  <a:srgbClr val="B88438"/>
                </a:solidFill>
              </a:rPr>
              <a:t>Инвесторы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965138-6CC2-4F1E-9C1F-15936176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72050"/>
            <a:ext cx="377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Нужен быстрый способ оценить продукт, логику, UX и коммерческий потенциал.</a:t>
            </a:r>
          </a:p>
        </p:txBody>
      </p:sp>
    </p:spTree>
    <p:extLst>
      <p:ext uri="{BB962C8B-B14F-4D97-AF65-F5344CB8AC3E}">
        <p14:creationId xmlns:p14="http://schemas.microsoft.com/office/powerpoint/2010/main" val="9725156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77CB49-456C-44C5-A1DF-1C5E9F356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200EB-B3B4-41FE-BEBF-1C33FAE9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000250"/>
            <a:ext cx="5524500" cy="552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896CD-9106-4B86-BBC8-AF7C9294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20955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DE74D-8EBA-456A-8074-38E34AF9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62500"/>
            <a:ext cx="39052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7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FB83C-3605-4065-ABEB-EED60EF9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79FB7-E170-473F-99DB-E7EA1A46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03184-D7A3-4F78-9010-AE989FB9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AA6BC-98A4-4507-808F-A25F0DD0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8CDF2-91EF-4613-A784-AED0B657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12D84-C94C-45A4-9045-E7723B0E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BE75D-2A77-4AB3-99F8-5A607358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F63F4-DFF0-45F8-90C8-1AB8AA79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A31A7-C866-47A1-AA41-AB893C98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F37"/>
                </a:solidFill>
              </a:defRPr>
            </a:pPr>
            <a:r>
              <a:rPr sz="900" b="1">
                <a:solidFill>
                  <a:srgbClr val="173F37"/>
                </a:solidFill>
              </a:rPr>
              <a:t>06 /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868DB-1889-4E0C-9011-59E53507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A6E"/>
                </a:solidFill>
              </a:defRPr>
            </a:pPr>
            <a:r>
              <a:rPr sz="975" b="1">
                <a:solidFill>
                  <a:srgbClr val="0B7A6E"/>
                </a:solidFill>
              </a:rPr>
              <a:t>05 · КАК ДВИЖУТСЯ ДЕНЬГИ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B823F-D4F4-4F74-9467-40030E6B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CC82E-4D91-41E9-B1E1-95B824BF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42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231E"/>
                </a:solidFill>
              </a:defRPr>
            </a:pPr>
            <a:r>
              <a:rPr sz="2925" b="1">
                <a:solidFill>
                  <a:srgbClr val="12231E"/>
                </a:solidFill>
              </a:rPr>
              <a:t>Один платеж проходит через понятную цепочку контроля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DFA6B-B264-45AB-A692-8B3673AE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Каждое изменение статуса связано с финансовым смыслом: где деньги, доступны ли они и можно ли считать комиссию заработанной.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20D88C-93FC-4663-8735-503133E1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433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7A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BCD89C-B15B-4574-8805-3350873E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70522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7A6E"/>
                </a:solidFill>
              </a:defRPr>
            </a:pPr>
            <a:r>
              <a:rPr sz="1350" b="1">
                <a:solidFill>
                  <a:srgbClr val="0B7A6E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48103-3263-417A-8766-DA12E431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231E"/>
                </a:solidFill>
              </a:defRPr>
            </a:pPr>
            <a:r>
              <a:rPr sz="1275" b="1">
                <a:solidFill>
                  <a:srgbClr val="12231E"/>
                </a:solidFill>
              </a:rPr>
              <a:t>Ордер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C36931-8E26-4CC0-981D-3C34285E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95700"/>
            <a:ext cx="800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A6E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AE5204-FC81-4DE8-9E0F-BDB075E2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433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7A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3BBB5E-89B8-47BC-B41C-F8213624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0522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7A6E"/>
                </a:solidFill>
              </a:defRPr>
            </a:pPr>
            <a:r>
              <a:rPr sz="1350" b="1">
                <a:solidFill>
                  <a:srgbClr val="0B7A6E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34A288-F667-48E5-BB39-9FE7EE1A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481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231E"/>
                </a:solidFill>
              </a:defRPr>
            </a:pPr>
            <a:r>
              <a:rPr sz="1275" b="1">
                <a:solidFill>
                  <a:srgbClr val="12231E"/>
                </a:solidFill>
              </a:rPr>
              <a:t>Реквизиты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6B8D59-2B4E-4BFE-BC27-D5AA9714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95700"/>
            <a:ext cx="800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A6E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5F8FE5-B91D-4CB1-81F5-BA27CDBA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433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7A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F8103B-D3A9-4EDA-8A9A-B8A1B53A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70522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7A6E"/>
                </a:solidFill>
              </a:defRPr>
            </a:pPr>
            <a:r>
              <a:rPr sz="1350" b="1">
                <a:solidFill>
                  <a:srgbClr val="0B7A6E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B5FE5E-F441-48EE-A54C-720BF964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231E"/>
                </a:solidFill>
              </a:defRPr>
            </a:pPr>
            <a:r>
              <a:rPr sz="1275" b="1">
                <a:solidFill>
                  <a:srgbClr val="12231E"/>
                </a:solidFill>
              </a:rPr>
              <a:t>Оплата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5F6B22-72AE-4720-AE18-97396F8B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800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A6E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6EF077-9B08-4D1D-85F1-CB26B288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433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7A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ED7A0D-5127-4483-A2B8-D1FF983C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0522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7A6E"/>
                </a:solidFill>
              </a:defRPr>
            </a:pPr>
            <a:r>
              <a:rPr sz="1350" b="1">
                <a:solidFill>
                  <a:srgbClr val="0B7A6E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981472-0AE4-4F65-8B73-05DAD2A4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481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231E"/>
                </a:solidFill>
              </a:defRPr>
            </a:pPr>
            <a:r>
              <a:rPr sz="1275" b="1">
                <a:solidFill>
                  <a:srgbClr val="12231E"/>
                </a:solidFill>
              </a:rPr>
              <a:t>Подтверждение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2B4DF1-BE5C-4B60-8100-6D2DD457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95700"/>
            <a:ext cx="800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A6E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A3A340-B167-44EC-9228-1E6060A6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433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19050">
            <a:solidFill>
              <a:srgbClr val="0B7A6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AB9844-E262-43E5-BDAE-E6389B78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70522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5AC5C1-3F78-4D1A-9A53-B5D7BFE2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481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231E"/>
                </a:solidFill>
              </a:defRPr>
            </a:pPr>
            <a:r>
              <a:rPr sz="1275" b="1">
                <a:solidFill>
                  <a:srgbClr val="12231E"/>
                </a:solidFill>
              </a:rPr>
              <a:t>Баланс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BA91C8-CD9D-4F14-A70E-0D5E6BBF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4191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7A6E">
              <a:alpha val="11765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2C26D2-4E2B-451E-9957-D84506E6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626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A6E"/>
                </a:solidFill>
              </a:defRPr>
            </a:pPr>
            <a:r>
              <a:rPr sz="1200" b="1">
                <a:solidFill>
                  <a:srgbClr val="0B7A6E"/>
                </a:solidFill>
              </a:rPr>
              <a:t>Если все хорошо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E32699-D4AE-4518-B2B4-DCDCA965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626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47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413B"/>
                </a:solidFill>
              </a:defRPr>
            </a:pPr>
            <a:r>
              <a:rPr sz="1050" b="0">
                <a:solidFill>
                  <a:srgbClr val="31413B"/>
                </a:solidFill>
              </a:rPr>
              <a:t>мерчант получает доступный баланс за вычетом комиссии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20EEBB-DDE1-488C-8ADD-9BF1A269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10200"/>
            <a:ext cx="4191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88438">
              <a:alpha val="12157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64D0A7-8A32-496F-ACAF-28F675E8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626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438"/>
                </a:solidFill>
              </a:defRPr>
            </a:pPr>
            <a:r>
              <a:rPr sz="1200" b="1">
                <a:solidFill>
                  <a:srgbClr val="B88438"/>
                </a:solidFill>
              </a:rPr>
              <a:t>Если есть спор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4C8491-56EB-4233-BD93-67489A61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626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47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413B"/>
                </a:solidFill>
              </a:defRPr>
            </a:pPr>
            <a:r>
              <a:rPr sz="1050" b="0">
                <a:solidFill>
                  <a:srgbClr val="31413B"/>
                </a:solidFill>
              </a:rPr>
              <a:t>часть суммы замораживается до решения апелляции</a:t>
            </a:r>
          </a:p>
        </p:txBody>
      </p:sp>
    </p:spTree>
    <p:extLst>
      <p:ext uri="{BB962C8B-B14F-4D97-AF65-F5344CB8AC3E}">
        <p14:creationId xmlns:p14="http://schemas.microsoft.com/office/powerpoint/2010/main" val="1228355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77CB49-456C-44C5-A1DF-1C5E9F356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B4D27-F6F8-495F-B647-7BB69E69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000250"/>
            <a:ext cx="5524500" cy="552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8816D-4080-425A-8635-AA97D891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20955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53BDF-733A-45F4-AFBA-C6BF9389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62500"/>
            <a:ext cx="39052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7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81C1D-A23C-4CAD-BDE6-2ACC5277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BF452-33B6-4E04-A166-5E291EB9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30C43-4515-4C6C-BC88-5CE4628F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34570-8822-48BE-972C-664CCF8F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DBAFA-E071-4673-8C2E-E96FA5F8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7DF51-89BF-426E-8415-322010A4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AD83D-8119-493E-9FAE-98ED8C3E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EB889-3D04-449D-81C2-C05A99EB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FA6BE-5F59-4E94-8172-0422E61E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F37"/>
                </a:solidFill>
              </a:defRPr>
            </a:pPr>
            <a:r>
              <a:rPr sz="900" b="1">
                <a:solidFill>
                  <a:srgbClr val="173F37"/>
                </a:solidFill>
              </a:rPr>
              <a:t>07 /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6B401-6C82-4D0B-822E-8747D53E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A6E"/>
                </a:solidFill>
              </a:defRPr>
            </a:pPr>
            <a:r>
              <a:rPr sz="975" b="1">
                <a:solidFill>
                  <a:srgbClr val="0B7A6E"/>
                </a:solidFill>
              </a:rPr>
              <a:t>06 · УПРАВЛЕНИЕ РОЛЯМИ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7FE8F-8006-48B0-B7EF-1C4F8E71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8D140-5934-478E-A66A-7E036D04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231E"/>
                </a:solidFill>
              </a:defRPr>
            </a:pPr>
            <a:r>
              <a:rPr sz="2925" b="1">
                <a:solidFill>
                  <a:srgbClr val="12231E"/>
                </a:solidFill>
              </a:rPr>
              <a:t>Каждая роль видит свой участок ответственности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01F59-E997-410C-A901-EAF68272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66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Это снижает хаос: оператор не занимается финансами, support не меняет выплаты, мерчант видит только свои данные.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6D5CC5-F17D-4541-BABF-A3E7D296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028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EEA">
              <a:alpha val="72157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F89E6-A064-4D6B-8DE0-7544807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62325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Администратор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B819F5-97BE-4783-8F46-36BD3984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6232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1413B"/>
                </a:solidFill>
              </a:defRPr>
            </a:pPr>
            <a:r>
              <a:rPr sz="1125" b="0">
                <a:solidFill>
                  <a:srgbClr val="31413B"/>
                </a:solidFill>
              </a:rPr>
              <a:t>Вся система, мерчанты, провайдеры, аудит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EA0F1-2EAB-437C-87F0-0CF43041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1028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20D2D2-DA2B-4309-90D6-09DAC00B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862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Мерчант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F415C-01F7-4F07-8201-3B89A544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86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1413B"/>
                </a:solidFill>
              </a:defRPr>
            </a:pPr>
            <a:r>
              <a:rPr sz="1125" b="0">
                <a:solidFill>
                  <a:srgbClr val="31413B"/>
                </a:solidFill>
              </a:rPr>
              <a:t>Свои ордера, выплаты, баланс, реквизиты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B3111-BAD2-4FA2-8238-E3FE47F9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028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EEA">
              <a:alpha val="72157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6F7EDE-879D-4F66-861C-8B6C6060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0075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Оператор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6FCF3B-ECFE-4E22-93AE-CFE4A3DB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100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1413B"/>
                </a:solidFill>
              </a:defRPr>
            </a:pPr>
            <a:r>
              <a:rPr sz="1125" b="0">
                <a:solidFill>
                  <a:srgbClr val="31413B"/>
                </a:solidFill>
              </a:rPr>
              <a:t>Статусы, реквизиты, спорные операции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F048C2-43AA-4D6E-934F-55D2AF20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29175"/>
            <a:ext cx="1028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F5D982-FEBC-4BAF-9C59-03AF53AB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Финансы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CF356-3CFF-4F9C-BD87-4C511491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1413B"/>
                </a:solidFill>
              </a:defRPr>
            </a:pPr>
            <a:r>
              <a:rPr sz="1125" b="0">
                <a:solidFill>
                  <a:srgbClr val="31413B"/>
                </a:solidFill>
              </a:rPr>
              <a:t>Балансы, комиссии, холды, выплаты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869CD3-676C-4EE9-98EE-E7D1EEB5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1028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EEA">
              <a:alpha val="72157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CD4496-9189-4993-B5EA-EC392DDA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57825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Support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D9E445-10E0-4584-8E08-76233355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5782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1413B"/>
                </a:solidFill>
              </a:defRPr>
            </a:pPr>
            <a:r>
              <a:rPr sz="1125" b="0">
                <a:solidFill>
                  <a:srgbClr val="31413B"/>
                </a:solidFill>
              </a:rPr>
              <a:t>Апелляции, комментарии, решения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4EDD90-D356-4DA7-AD12-E04AED85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43600"/>
            <a:ext cx="857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88438">
              <a:alpha val="10196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654B82-9A17-4563-8EDB-3A393E4C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057900"/>
            <a:ext cx="803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1413B"/>
                </a:solidFill>
              </a:defRPr>
            </a:pPr>
            <a:r>
              <a:rPr sz="1050" b="0">
                <a:solidFill>
                  <a:srgbClr val="31413B"/>
                </a:solidFill>
              </a:rPr>
              <a:t>Для production это масштабируется в полноценный RBAC, права доступа и аудит действий.</a:t>
            </a:r>
          </a:p>
        </p:txBody>
      </p:sp>
    </p:spTree>
    <p:extLst>
      <p:ext uri="{BB962C8B-B14F-4D97-AF65-F5344CB8AC3E}">
        <p14:creationId xmlns:p14="http://schemas.microsoft.com/office/powerpoint/2010/main" val="19142501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77CB49-456C-44C5-A1DF-1C5E9F356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0AA48-01CD-476F-80CD-81DF439E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000250"/>
            <a:ext cx="5524500" cy="552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6EF9B-B95F-49AA-B835-AB583409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20955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33DAD-7A19-458D-92F6-92F2C29E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62500"/>
            <a:ext cx="39052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7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AAF94-E628-45CC-B0FA-B12E6E99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53267-6542-4599-9D00-4F156DBE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55F06-FB94-4F40-8189-5ABE4D8F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B8380-D433-4A99-86F6-223A399C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A2854-9AEB-40C7-BD15-25B61D57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E3C9A-C2A7-43F8-B976-37B8B3E3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592B9-72CB-4D40-AF26-6013537C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DBA94-B6AC-44F1-B2CA-89690926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7547F-471D-45B7-88D3-085E92C3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F37"/>
                </a:solidFill>
              </a:defRPr>
            </a:pPr>
            <a:r>
              <a:rPr sz="900" b="1">
                <a:solidFill>
                  <a:srgbClr val="173F37"/>
                </a:solidFill>
              </a:rPr>
              <a:t>08 /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9A82A-C5DB-4C0C-B6DF-CE87AF61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A6E"/>
                </a:solidFill>
              </a:defRPr>
            </a:pPr>
            <a:r>
              <a:rPr sz="975" b="1">
                <a:solidFill>
                  <a:srgbClr val="0B7A6E"/>
                </a:solidFill>
              </a:rPr>
              <a:t>07 · ДЕМОНСТРАЦИЯ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BA131-5619-4D5D-8630-379E3E48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2708B5-0DB3-4C5E-B453-C0D93365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231E"/>
                </a:solidFill>
              </a:defRPr>
            </a:pPr>
            <a:r>
              <a:rPr sz="2925" b="1">
                <a:solidFill>
                  <a:srgbClr val="12231E"/>
                </a:solidFill>
              </a:rPr>
              <a:t>10 сценариев объясняют продукт человеку без технического опыта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55797-3BEA-4593-90F2-C446C2C3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66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Пользователь нажимает шаги и видит, что меняется: статусы, баланс, апелляции, уведомления и журнал.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425D7-85D0-4289-9E81-56D3B9DB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AEDC92-447F-40F9-8748-CC179685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66C4AA-BAD3-4A41-B190-2F307683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71825"/>
            <a:ext cx="398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1E"/>
                </a:solidFill>
              </a:defRPr>
            </a:pPr>
            <a:r>
              <a:rPr sz="1200" b="1">
                <a:solidFill>
                  <a:srgbClr val="12231E"/>
                </a:solidFill>
              </a:rPr>
              <a:t>Мерчант создает ордер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D99D1-BCE8-4212-9BBD-C6E2A368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05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C16159-C103-44B9-AA02-169AF10C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82000-42CC-4C40-8C2A-7EF71EC8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71825"/>
            <a:ext cx="398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1E"/>
                </a:solidFill>
              </a:defRPr>
            </a:pPr>
            <a:r>
              <a:rPr sz="1200" b="1">
                <a:solidFill>
                  <a:srgbClr val="12231E"/>
                </a:solidFill>
              </a:rPr>
              <a:t>Платформа назначает реквизиты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0AE6D-D35B-4504-BFF9-38CF85AF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28F877-1DE2-4583-A97E-E7A3D5EE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AE8E4E-E474-4EFC-919B-A9BB4C2F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24275"/>
            <a:ext cx="398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1E"/>
                </a:solidFill>
              </a:defRPr>
            </a:pPr>
            <a:r>
              <a:rPr sz="1200" b="1">
                <a:solidFill>
                  <a:srgbClr val="12231E"/>
                </a:solidFill>
              </a:rPr>
              <a:t>Оператор меняет статусы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DF419F-6F27-4BE6-A42F-EBA8B60C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57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4CBFC2-C8A4-4519-ADEF-7CDE60E9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33800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8D7E59-36F1-47C5-B7CA-24B52625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24275"/>
            <a:ext cx="398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1E"/>
                </a:solidFill>
              </a:defRPr>
            </a:pPr>
            <a:r>
              <a:rPr sz="1200" b="1">
                <a:solidFill>
                  <a:srgbClr val="12231E"/>
                </a:solidFill>
              </a:rPr>
              <a:t>Успешный ордер начисляет баланс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1D8BE5-B31C-4B1E-B84B-D800AA6A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4DC60C-96FC-4E0E-AA7F-84D888E7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68B464-7BFB-46F8-81AF-8F37695E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76725"/>
            <a:ext cx="398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1E"/>
                </a:solidFill>
              </a:defRPr>
            </a:pPr>
            <a:r>
              <a:rPr sz="1200" b="1">
                <a:solidFill>
                  <a:srgbClr val="12231E"/>
                </a:solidFill>
              </a:rPr>
              <a:t>Мерчант создает выплату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B48338-FE53-474B-A52D-6E18EFCA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E9F3AB-3EBC-4B92-9213-97A49AA3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86250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B10487-E94B-4FD8-8F5B-24B9DF4A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76725"/>
            <a:ext cx="398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1E"/>
                </a:solidFill>
              </a:defRPr>
            </a:pPr>
            <a:r>
              <a:rPr sz="1200" b="1">
                <a:solidFill>
                  <a:srgbClr val="12231E"/>
                </a:solidFill>
              </a:rPr>
              <a:t>Финансы подтверждают выплату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2770F9-A21D-446E-8B2A-2C6ECDEB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1B8DAD-B118-4342-BB29-392494ED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38700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223925-2D12-4E47-B5A5-70506511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29175"/>
            <a:ext cx="398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1E"/>
                </a:solidFill>
              </a:defRPr>
            </a:pPr>
            <a:r>
              <a:rPr sz="1200" b="1">
                <a:solidFill>
                  <a:srgbClr val="12231E"/>
                </a:solidFill>
              </a:rPr>
              <a:t>Спор замораживает баланс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7B0189-AF39-4277-9764-5573A205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84FE25-6390-4AFC-B3BF-F8B6DE3B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38700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8B39BE-9AB7-4817-8747-354F8DF9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29175"/>
            <a:ext cx="398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1E"/>
                </a:solidFill>
              </a:defRPr>
            </a:pPr>
            <a:r>
              <a:rPr sz="1200" b="1">
                <a:solidFill>
                  <a:srgbClr val="12231E"/>
                </a:solidFill>
              </a:rPr>
              <a:t>Создается апелляция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61EEF4-000E-445F-A8D7-757C1948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4D587A-F385-4F1C-86F6-E6EBF55F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91150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E2BB94-A48B-411F-B6B3-1E2BFD9C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81625"/>
            <a:ext cx="398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1E"/>
                </a:solidFill>
              </a:defRPr>
            </a:pPr>
            <a:r>
              <a:rPr sz="1200" b="1">
                <a:solidFill>
                  <a:srgbClr val="12231E"/>
                </a:solidFill>
              </a:rPr>
              <a:t>Support рассматривает спор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9D4B2E-5DCF-44AB-A437-E7A5DE6B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314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6FF044-57D8-456E-B5DC-DAF27377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91150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0CAE7F-E1F7-4677-9FF8-05BBA640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81625"/>
            <a:ext cx="398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1E"/>
                </a:solidFill>
              </a:defRPr>
            </a:pPr>
            <a:r>
              <a:rPr sz="1200" b="1">
                <a:solidFill>
                  <a:srgbClr val="12231E"/>
                </a:solidFill>
              </a:rPr>
              <a:t>Решение меняет баланс</a:t>
            </a:r>
          </a:p>
        </p:txBody>
      </p:sp>
    </p:spTree>
    <p:extLst>
      <p:ext uri="{BB962C8B-B14F-4D97-AF65-F5344CB8AC3E}">
        <p14:creationId xmlns:p14="http://schemas.microsoft.com/office/powerpoint/2010/main" val="15454462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77CB49-456C-44C5-A1DF-1C5E9F356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E3C6C-5E1B-40DF-8DB8-931FE191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000250"/>
            <a:ext cx="5524500" cy="552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33C65-644C-480C-A4AA-4DF27BB1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20955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E5E66-BACF-45FB-B377-C8DD60E3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62500"/>
            <a:ext cx="39052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7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072AB-1488-422B-B95B-EED3CCC0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B3CF9-BFB5-4AD8-AB30-5F1F4F39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5F9FB-7776-434C-9FBA-D9DA9B66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62FB5-7CC3-454D-8322-A39906BA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5D023-A292-4B7F-B4B9-997A459F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C3275-9D7C-4DA3-B9FC-BA8507FE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0ED26-68A3-416B-9C77-03973749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8DA25-B026-4E73-9F98-5CB17553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08877-DB83-4FD2-9DF6-D5C22767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F37"/>
                </a:solidFill>
              </a:defRPr>
            </a:pPr>
            <a:r>
              <a:rPr sz="900" b="1">
                <a:solidFill>
                  <a:srgbClr val="173F37"/>
                </a:solidFill>
              </a:rPr>
              <a:t>09 /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B0B3A-62B9-434F-BAA2-668E419E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A6E"/>
                </a:solidFill>
              </a:defRPr>
            </a:pPr>
            <a:r>
              <a:rPr sz="975" b="1">
                <a:solidFill>
                  <a:srgbClr val="0B7A6E"/>
                </a:solidFill>
              </a:rPr>
              <a:t>08 · БИЗНЕС-МОДЕЛЬ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EB6DA-D9C8-4824-8303-7B0776C4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7DF50-0E3B-4F78-A1CD-04F27F3D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231E"/>
                </a:solidFill>
              </a:defRPr>
            </a:pPr>
            <a:r>
              <a:rPr sz="2925" b="1">
                <a:solidFill>
                  <a:srgbClr val="12231E"/>
                </a:solidFill>
              </a:rPr>
              <a:t>Заработок строится на обороте, комиссиях и снижении потерь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A268E-5C73-4D9D-88A1-19C57E3B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66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Модель проста для объяснения клиенту и инвестору: чем больше обработанный оборот и чем лучше контроль рисков, тем выше валовая комиссия.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572FA-9B9C-465D-A8C1-A27E56EE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AC0DF3-328D-4841-BD0D-66BA1CDE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1AF264-C250-4047-A56C-1911DF93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CFD010-A0DA-4E00-A838-754FAF67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671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B21C05-E5DC-4928-AB6A-8001D3B0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A6E"/>
                </a:solidFill>
              </a:defRPr>
            </a:pPr>
            <a:r>
              <a:rPr sz="1125" b="1">
                <a:solidFill>
                  <a:srgbClr val="0B7A6E"/>
                </a:solidFill>
              </a:rPr>
              <a:t>Pay-in комиссия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1CE1F-D12E-4ABE-AF68-B90900F5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3771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Оборот приема × ставка комиссии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4AE4F5-721A-4414-9EC4-1A954EC5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D63DF0-B9DA-4C9F-9D56-716F869A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2D4490-1D53-449D-9C6C-692587CC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A86AC4-A41B-4E09-B1C1-1212B9BF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671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548A23-F2DB-45D3-87C6-87B66152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438"/>
                </a:solidFill>
              </a:defRPr>
            </a:pPr>
            <a:r>
              <a:rPr sz="1125" b="1">
                <a:solidFill>
                  <a:srgbClr val="B88438"/>
                </a:solidFill>
              </a:rPr>
              <a:t>Payout комиссия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A93F93-86E7-4975-82ED-2FEE2AB2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29050"/>
            <a:ext cx="3771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Оборот выплат × ставка комиссии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23C01A-03A1-415E-BA95-F5A3661F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955F11-0ABD-40C9-A9CD-78C311D0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33F8C4-D8D0-4FEF-90C0-EF119AA4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270286-7764-4EA4-8652-F9697351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958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84A545-D622-4DE6-B63D-921B497B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815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A6E"/>
                </a:solidFill>
              </a:defRPr>
            </a:pPr>
            <a:r>
              <a:rPr sz="1125" b="1">
                <a:solidFill>
                  <a:srgbClr val="0B7A6E"/>
                </a:solidFill>
              </a:rPr>
              <a:t>Операционная маржа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B65B35-7853-4ADC-A22F-3D41B756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57750"/>
            <a:ext cx="3771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Меньше ручного труда, ошибок и спорных потерь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404AC0-96E7-41B6-92D7-41DA6B2D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569EFD-8E90-43EA-A62C-22EE3B08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85AD6F-C219-4E03-B8E7-8194460E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577E65-6AE4-4176-BDF6-710158DA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958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63A2B4-DDB3-4E2B-9D24-77A4D7E6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815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438"/>
                </a:solidFill>
              </a:defRPr>
            </a:pPr>
            <a:r>
              <a:rPr sz="1125" b="1">
                <a:solidFill>
                  <a:srgbClr val="B88438"/>
                </a:solidFill>
              </a:rPr>
              <a:t>Доп. монетизация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04352E-F1BA-4593-AA65-D2DBFF02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57750"/>
            <a:ext cx="3771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Премиум-модули: API, кастомные лимиты, аналитика, SLA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9F3346-DCC8-4B7D-B026-9D6E8E9E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53100"/>
            <a:ext cx="97917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2231E">
              <a:alpha val="9490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9E0E55-C162-4EFC-BD7A-E0A9DC7F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05500"/>
            <a:ext cx="925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F0E4"/>
                </a:solidFill>
              </a:defRPr>
            </a:pPr>
            <a:r>
              <a:rPr sz="1125" b="1">
                <a:solidFill>
                  <a:srgbClr val="F6F0E4"/>
                </a:solidFill>
              </a:rPr>
              <a:t>Демо-формула: 10 млн RUB pay-in × 2.5% + 4 млн RUB payout × 1.5% = 310 000 RUB валовой комиссии в месяц.</a:t>
            </a:r>
          </a:p>
        </p:txBody>
      </p:sp>
    </p:spTree>
    <p:extLst>
      <p:ext uri="{BB962C8B-B14F-4D97-AF65-F5344CB8AC3E}">
        <p14:creationId xmlns:p14="http://schemas.microsoft.com/office/powerpoint/2010/main" val="17417982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77CB49-456C-44C5-A1DF-1C5E9F356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F8030-2C75-484D-9CC6-BC0C5CBD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000250"/>
            <a:ext cx="5524500" cy="552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F7361-6631-478B-9C37-3BCA9CE6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20955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305E6-7C5B-4CE4-8F63-53C43A1C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62500"/>
            <a:ext cx="39052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7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85163-F5AC-4B59-BE2F-E3609147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55727-A47A-403B-A735-32325FBE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225F6-B14F-4557-9ED1-12C12AD1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E494A-C2CD-4CA5-8B73-3E55F39C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DD7E0-F552-4C8F-9EF9-9284B812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566AF-E5DB-42EF-BEF9-D0EDA4A3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0593B-D2E5-46B8-A215-37DD4B1F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6EBEE-D21C-462A-A6CA-4C5C75EB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DC0E8-43DB-4C45-9CE3-F5DF81D7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F37"/>
                </a:solidFill>
              </a:defRPr>
            </a:pPr>
            <a:r>
              <a:rPr sz="900" b="1">
                <a:solidFill>
                  <a:srgbClr val="173F37"/>
                </a:solidFill>
              </a:rPr>
              <a:t>10 /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FA9D2-C66F-4A17-8274-D45DC4AA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A6E"/>
                </a:solidFill>
              </a:defRPr>
            </a:pPr>
            <a:r>
              <a:rPr sz="975" b="1">
                <a:solidFill>
                  <a:srgbClr val="0B7A6E"/>
                </a:solidFill>
              </a:rPr>
              <a:t>09 · ПОТЕНЦИАЛЬНАЯ ЭКОНОМИКА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6A7AD-037E-45C2-9739-5F682DD5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7012D-D3E2-416B-9867-8FCC23B1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096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231E"/>
                </a:solidFill>
              </a:defRPr>
            </a:pPr>
            <a:r>
              <a:rPr sz="2925" b="1">
                <a:solidFill>
                  <a:srgbClr val="12231E"/>
                </a:solidFill>
              </a:rPr>
              <a:t>Пример валовой комиссии при разных объемах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87AF42-D92F-4E9C-B481-A046CF2E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Это демонстрационная модель, не гарантия доходности. Реальные цифры зависят от ниши, провайдеров, риска, налогов и стоимости операций.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DCF0E4-37A5-48E9-8C64-CA73C148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295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31E"/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D58C51-BEEF-4278-A30C-5ED36AD8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0E4"/>
                </a:solidFill>
              </a:defRPr>
            </a:pPr>
            <a:r>
              <a:rPr sz="975" b="1">
                <a:solidFill>
                  <a:srgbClr val="F6F0E4"/>
                </a:solidFill>
              </a:rPr>
              <a:t>Pay-in оборот / мес.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F20693-056B-410D-8FF5-16131926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86100"/>
            <a:ext cx="230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31E"/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A5DD4-7113-4348-B3CD-821BE545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289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F0E4"/>
                </a:solidFill>
              </a:defRPr>
            </a:pPr>
            <a:r>
              <a:rPr sz="1125" b="1">
                <a:solidFill>
                  <a:srgbClr val="F6F0E4"/>
                </a:solidFill>
              </a:rPr>
              <a:t>10 млн RUB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07C5E-C933-41F0-8124-1DAFE8A8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230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31E"/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428106-27C2-48D3-8D27-BDAEB17B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289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F0E4"/>
                </a:solidFill>
              </a:defRPr>
            </a:pPr>
            <a:r>
              <a:rPr sz="1125" b="1">
                <a:solidFill>
                  <a:srgbClr val="F6F0E4"/>
                </a:solidFill>
              </a:rPr>
              <a:t>50 млн RUB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DB926E-D839-488C-A135-6B04E136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86100"/>
            <a:ext cx="230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231E"/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65861-7288-49B0-BA0D-A58F5204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289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F0E4"/>
                </a:solidFill>
              </a:defRPr>
            </a:pPr>
            <a:r>
              <a:rPr sz="1125" b="1">
                <a:solidFill>
                  <a:srgbClr val="F6F0E4"/>
                </a:solidFill>
              </a:rPr>
              <a:t>100 млн RUB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F3BDCE-DC96-4AA8-BCA7-899F628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95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1931C3-D68C-472F-96B5-4FE9AFF7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05225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31E"/>
                </a:solidFill>
              </a:defRPr>
            </a:pPr>
            <a:r>
              <a:rPr sz="975" b="0">
                <a:solidFill>
                  <a:srgbClr val="12231E"/>
                </a:solidFill>
              </a:rPr>
              <a:t>Pay-in комиссия 2.5%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0B3B89-BC2F-4D13-99F4-E5F9BC2B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230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64DE70-18F5-4FE2-AE84-5886CA4E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052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31E"/>
                </a:solidFill>
              </a:defRPr>
            </a:pPr>
            <a:r>
              <a:rPr sz="1125" b="0">
                <a:solidFill>
                  <a:srgbClr val="12231E"/>
                </a:solidFill>
              </a:rPr>
              <a:t>250 тыс.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C7A85B-660A-43F8-8BB9-ADFF57AD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230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CF9F3-A0D4-48AB-A515-9747D95B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052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31E"/>
                </a:solidFill>
              </a:defRPr>
            </a:pPr>
            <a:r>
              <a:rPr sz="1125" b="0">
                <a:solidFill>
                  <a:srgbClr val="12231E"/>
                </a:solidFill>
              </a:rPr>
              <a:t>1.25 млн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64C291-2CC9-4F9E-B408-C5424264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30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C592B3-B424-41EB-9628-4A9E90DD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052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31E"/>
                </a:solidFill>
              </a:defRPr>
            </a:pPr>
            <a:r>
              <a:rPr sz="1125" b="0">
                <a:solidFill>
                  <a:srgbClr val="12231E"/>
                </a:solidFill>
              </a:rPr>
              <a:t>2.5 млн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2813AF-A1AC-4B2E-9A92-ECC94FD5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5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6A9462-0C82-47C7-BD16-01ADF1A4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81475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31E"/>
                </a:solidFill>
              </a:defRPr>
            </a:pPr>
            <a:r>
              <a:rPr sz="975" b="0">
                <a:solidFill>
                  <a:srgbClr val="12231E"/>
                </a:solidFill>
              </a:rPr>
              <a:t>Payout 40% оборота, 1.5%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2870B0-6D92-4B0C-8F59-64BC6387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38600"/>
            <a:ext cx="230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16822C-FA34-40E3-9155-7C4D9AB1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814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31E"/>
                </a:solidFill>
              </a:defRPr>
            </a:pPr>
            <a:r>
              <a:rPr sz="1125" b="0">
                <a:solidFill>
                  <a:srgbClr val="12231E"/>
                </a:solidFill>
              </a:rPr>
              <a:t>60 тыс.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D39171-0D14-447D-98AC-1FA47EDB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0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9B0782-5853-451B-B0B3-39B42628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814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31E"/>
                </a:solidFill>
              </a:defRPr>
            </a:pPr>
            <a:r>
              <a:rPr sz="1125" b="0">
                <a:solidFill>
                  <a:srgbClr val="12231E"/>
                </a:solidFill>
              </a:rPr>
              <a:t>300 тыс.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E9975C-15C9-4839-9716-56DEDE09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38600"/>
            <a:ext cx="230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7DE91A-5968-4489-9A60-8D6EC5DE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814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31E"/>
                </a:solidFill>
              </a:defRPr>
            </a:pPr>
            <a:r>
              <a:rPr sz="1125" b="0">
                <a:solidFill>
                  <a:srgbClr val="12231E"/>
                </a:solidFill>
              </a:rPr>
              <a:t>600 тыс.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98D208-E420-4D6A-BD0F-B953D6AC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95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5367EE-1D22-4B94-8863-1EB888C0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57725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31E"/>
                </a:solidFill>
              </a:defRPr>
            </a:pPr>
            <a:r>
              <a:rPr sz="975" b="0">
                <a:solidFill>
                  <a:srgbClr val="12231E"/>
                </a:solidFill>
              </a:rPr>
              <a:t>Валовая комиссия / мес.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856AD7-F5E3-4B97-A108-228BB84C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14850"/>
            <a:ext cx="230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563378-C653-4E1F-97B7-FFFAF245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577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31E"/>
                </a:solidFill>
              </a:defRPr>
            </a:pPr>
            <a:r>
              <a:rPr sz="1125" b="0">
                <a:solidFill>
                  <a:srgbClr val="12231E"/>
                </a:solidFill>
              </a:rPr>
              <a:t>310 тыс.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75A98B-9BFD-41E5-9E18-BD1822FF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230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16707B-705D-4A75-A271-A05D467C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577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31E"/>
                </a:solidFill>
              </a:defRPr>
            </a:pPr>
            <a:r>
              <a:rPr sz="1125" b="0">
                <a:solidFill>
                  <a:srgbClr val="12231E"/>
                </a:solidFill>
              </a:rPr>
              <a:t>1.55 млн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52D198-625B-400D-95FC-8F152F6C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14850"/>
            <a:ext cx="230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2006DE-B139-49CC-888A-1DF7A5C8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577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31E"/>
                </a:solidFill>
              </a:defRPr>
            </a:pPr>
            <a:r>
              <a:rPr sz="1125" b="0">
                <a:solidFill>
                  <a:srgbClr val="12231E"/>
                </a:solidFill>
              </a:rPr>
              <a:t>3.1 млн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1EBD8D-3902-4EFC-8811-235C938B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295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7A6E">
              <a:alpha val="11373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352CD8-D896-4A5B-A455-AC8D505D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33975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231E"/>
                </a:solidFill>
              </a:defRPr>
            </a:pPr>
            <a:r>
              <a:rPr sz="975" b="1">
                <a:solidFill>
                  <a:srgbClr val="12231E"/>
                </a:solidFill>
              </a:rPr>
              <a:t>Валовая комиссия / год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6A289D0-8F78-4AE6-803F-4AD31043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91100"/>
            <a:ext cx="230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7A6E">
              <a:alpha val="11373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58FE8E-DB01-4EA5-902E-F5C650F8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1339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3.72 млн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7BF72D-06E8-425D-87F2-01643C45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91100"/>
            <a:ext cx="230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7A6E">
              <a:alpha val="11373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0883B9-7E52-4686-8C0B-045AADDB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339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18.6 млн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7429DB-0D32-460D-AACA-7D79659E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91100"/>
            <a:ext cx="230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7A6E">
              <a:alpha val="11373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9EB460-3E1D-4361-A4C0-9D204912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339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31E"/>
                </a:solidFill>
              </a:defRPr>
            </a:pPr>
            <a:r>
              <a:rPr sz="1125" b="1">
                <a:solidFill>
                  <a:srgbClr val="12231E"/>
                </a:solidFill>
              </a:rPr>
              <a:t>37.2 млн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EA8979-C361-4FEF-8FBF-29008CA5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B88438">
              <a:alpha val="10588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ADC768B-B79E-458D-9AF5-4716804F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245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413B"/>
                </a:solidFill>
              </a:defRPr>
            </a:pPr>
            <a:r>
              <a:rPr sz="1050" b="1">
                <a:solidFill>
                  <a:srgbClr val="31413B"/>
                </a:solidFill>
              </a:rPr>
              <a:t>Ключ к росту: подключать мерчантов с оборотом, удерживать конверсию платежей и снижать потери на спорах.</a:t>
            </a:r>
          </a:p>
        </p:txBody>
      </p:sp>
    </p:spTree>
    <p:extLst>
      <p:ext uri="{BB962C8B-B14F-4D97-AF65-F5344CB8AC3E}">
        <p14:creationId xmlns:p14="http://schemas.microsoft.com/office/powerpoint/2010/main" val="19379470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77CB49-456C-44C5-A1DF-1C5E9F356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9516C-A1DC-49E9-99CF-CCB1AB0C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000250"/>
            <a:ext cx="5524500" cy="552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8F8B1-E43A-45EF-A319-72FACAA3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20955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ACDA0-366D-4B50-A6B2-233BF995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62500"/>
            <a:ext cx="39052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7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FC7CB-4CFA-4EDC-883A-F06AFE51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90E07-8E38-4A74-8FC4-9947515B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59820-B8BA-443F-AED7-11F7E7D1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FAE77-E499-42D5-B501-1ECD4EF7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4F10E-D958-4ABC-A628-138B538D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6FB72-574B-409C-9651-B2A3CBD4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503DB-AEB2-4C65-A827-AC0ED6AF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9E8D1-5BD1-488D-A26B-0E972E6E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6E6F0-7E41-4C8D-84C7-02533891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F37"/>
                </a:solidFill>
              </a:defRPr>
            </a:pPr>
            <a:r>
              <a:rPr sz="900" b="1">
                <a:solidFill>
                  <a:srgbClr val="173F37"/>
                </a:solidFill>
              </a:rPr>
              <a:t>11 /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FF1B2-7C48-405B-BB54-BA3F9D61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A6E"/>
                </a:solidFill>
              </a:defRPr>
            </a:pPr>
            <a:r>
              <a:rPr sz="975" b="1">
                <a:solidFill>
                  <a:srgbClr val="0B7A6E"/>
                </a:solidFill>
              </a:rPr>
              <a:t>10 · ЦЕННОСТЬ ДЛЯ КЛИЕНТА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8C0E6-1C4D-4DA8-8014-0AAA6BC9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A6555-93DE-4794-AFC3-FE4DD037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231E"/>
                </a:solidFill>
              </a:defRPr>
            </a:pPr>
            <a:r>
              <a:rPr sz="2925" b="1">
                <a:solidFill>
                  <a:srgbClr val="12231E"/>
                </a:solidFill>
              </a:rPr>
              <a:t>Клиент покупает не интерфейс, а контроль над деньгами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52603-89D8-4E7E-B12E-46EAC9BF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66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Продукт помогает быстро понять состояние платежей, уменьшить ручной труд и объяснить финансовые изменения.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50EB77-F009-426C-93BF-5AC61D6C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6606C0-8C4D-4E7E-9423-61EF11CE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3B313-CD99-4460-B3AA-387D3467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568080-A56E-4D24-91DF-D5E85320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290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C5F0A1-B1C0-4302-8E77-7806BC0C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147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A6E"/>
                </a:solidFill>
              </a:defRPr>
            </a:pPr>
            <a:r>
              <a:rPr sz="1125" b="1">
                <a:solidFill>
                  <a:srgbClr val="0B7A6E"/>
                </a:solidFill>
              </a:rPr>
              <a:t>Прозрачность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3470A4-958E-4B58-BE1C-445E3957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90950"/>
            <a:ext cx="377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Понятно, где деньги: в оплате, на балансе, в холде или в споре.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72C49-555D-4569-8DA9-DFEE0E5C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07F5F7-BC72-46DC-9EFE-DC0303D6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A83362-EED7-42FF-AD7C-6AA785C0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FC5D62-6B38-4772-BDD0-59703882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290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679423-3FF9-4BC6-BDA5-28BA93CC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147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438"/>
                </a:solidFill>
              </a:defRPr>
            </a:pPr>
            <a:r>
              <a:rPr sz="1125" b="1">
                <a:solidFill>
                  <a:srgbClr val="B88438"/>
                </a:solidFill>
              </a:rPr>
              <a:t>Скорость операций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98D617-7474-4E88-8B6B-FD3F17B7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90950"/>
            <a:ext cx="377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Оператор и финансы работают по статусам, а не по хаотичным чатам.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6F5B83-FB10-48A8-9526-735BE5BD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909961-C125-4256-9F6C-22ABBB57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9F0F6C-D8C7-4AC0-91E1-B2DCDFB4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29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BED709-47D5-4845-83D4-3590C6F5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339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6F9008-06AB-4FE6-BCFE-C4D56C3F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196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A6E"/>
                </a:solidFill>
              </a:defRPr>
            </a:pPr>
            <a:r>
              <a:rPr sz="1125" b="1">
                <a:solidFill>
                  <a:srgbClr val="0B7A6E"/>
                </a:solidFill>
              </a:rPr>
              <a:t>Снижение риска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F75FB1-0D94-4396-A4BE-D49595CD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95850"/>
            <a:ext cx="377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Спорные суммы замораживаются, апелляции имеют историю и ответственного.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4B8927-5E75-474E-B6AF-305F3E9F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8575F2-83A5-44FC-847C-9A0321F5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38D366-747E-484A-973F-1C06DE36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B0AB71-BD69-43B6-A8A4-AFDD3B96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339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7564C7-EB1E-4008-85FC-4D995B8E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96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438"/>
                </a:solidFill>
              </a:defRPr>
            </a:pPr>
            <a:r>
              <a:rPr sz="1125" b="1">
                <a:solidFill>
                  <a:srgbClr val="B88438"/>
                </a:solidFill>
              </a:rPr>
              <a:t>Готовность к интеграциям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190CCC-B83C-4D57-A9B2-07FB71B3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95850"/>
            <a:ext cx="377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API-демо показывает, как можно подключать мерчантов и провайдеров.</a:t>
            </a:r>
          </a:p>
        </p:txBody>
      </p:sp>
    </p:spTree>
    <p:extLst>
      <p:ext uri="{BB962C8B-B14F-4D97-AF65-F5344CB8AC3E}">
        <p14:creationId xmlns:p14="http://schemas.microsoft.com/office/powerpoint/2010/main" val="7663786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77CB49-456C-44C5-A1DF-1C5E9F356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AA78E-6EC1-42E1-A6E5-24647574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000250"/>
            <a:ext cx="5524500" cy="552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140F0-C5EC-45FA-8ED5-74F37D5A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20955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E18EF-DFAC-4400-A72D-0F3279B4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62500"/>
            <a:ext cx="39052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7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4C0CE-5CBF-4D07-9911-F37259B0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28887-A693-47BB-9F0E-669973D5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69B8C-48AC-4AF8-93D7-C70A251F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D7613-1609-49E6-9F64-31A7A491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82C6C-C938-43EA-9833-3AEB7D78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BBABA-0C84-4CAC-A344-88DF828F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25674-B9D9-4A94-BADD-A067E58A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C159F-B67E-4BEF-BE33-318FF75E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36642-E9F1-4A08-972B-9949EA77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F37"/>
                </a:solidFill>
              </a:defRPr>
            </a:pPr>
            <a:r>
              <a:rPr sz="900" b="1">
                <a:solidFill>
                  <a:srgbClr val="173F37"/>
                </a:solidFill>
              </a:rPr>
              <a:t>12 /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56BAE-F9C2-4AB0-BA73-1725EBDB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A6E"/>
                </a:solidFill>
              </a:defRPr>
            </a:pPr>
            <a:r>
              <a:rPr sz="975" b="1">
                <a:solidFill>
                  <a:srgbClr val="0B7A6E"/>
                </a:solidFill>
              </a:rPr>
              <a:t>11 · ЦЕННОСТЬ ДЛЯ ИНВЕСТОРА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DD615-1E66-45CF-9588-565AFA14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1DC0D-2FA1-49AD-A9C1-C40B9B86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231E"/>
                </a:solidFill>
              </a:defRPr>
            </a:pPr>
            <a:r>
              <a:rPr sz="2925" b="1">
                <a:solidFill>
                  <a:srgbClr val="12231E"/>
                </a:solidFill>
              </a:rPr>
              <a:t>Прототип снижает риск первого этапа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2B4B7-BABA-4E58-B90D-CBEDB5B2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66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Вместо идеи на словах есть продуктовый контур, который можно открыть, пройти и обсудить с рынком.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8CE858-4243-4C7F-811F-EB3783CA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8A0BD-780B-4770-9B5A-C12676ED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7A12E-FA8E-4623-B97C-812B9241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C0EF9-6D7E-47E0-A903-7CBACA6C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290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1EAFDE-AAF0-45E6-8AF1-8E1A6474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147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A6E"/>
                </a:solidFill>
              </a:defRPr>
            </a:pPr>
            <a:r>
              <a:rPr sz="1125" b="1">
                <a:solidFill>
                  <a:srgbClr val="0B7A6E"/>
                </a:solidFill>
              </a:rPr>
              <a:t>Проверяемая гипотеза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D1CD16-7AAA-429C-941D-960FABC6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90950"/>
            <a:ext cx="377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Можно показать рынку до затрат на сложную production-инфраструктуру.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2391CA-F98C-41ED-8B78-796C1494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CD5CBF-9FAA-4573-98A1-4C51D9B6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054E28-F9D5-4BB3-80DF-D80817B1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9B2716-D2EA-4D66-8D6E-02117A7A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290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39D7DA-CC9C-4409-80C9-58F5F668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147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438"/>
                </a:solidFill>
              </a:defRPr>
            </a:pPr>
            <a:r>
              <a:rPr sz="1125" b="1">
                <a:solidFill>
                  <a:srgbClr val="B88438"/>
                </a:solidFill>
              </a:rPr>
              <a:t>Понятный roadmap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398736-401F-49B5-8A13-62E819F9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90950"/>
            <a:ext cx="377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Видно, какие модули уже нужны: RBAC, провайдеры, аналитика, файлы, compliance.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A28378-3752-4D08-96D8-E92F89A1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F70204-D652-4D30-ABD2-BE0456F3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E1058E-5F8F-467C-8CB9-7EFF07C4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29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C766B1-BCB3-4FF6-9562-AFECC049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339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EE4214-02B6-4AD6-936D-CA0367C6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196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A6E"/>
                </a:solidFill>
              </a:defRPr>
            </a:pPr>
            <a:r>
              <a:rPr sz="1125" b="1">
                <a:solidFill>
                  <a:srgbClr val="0B7A6E"/>
                </a:solidFill>
              </a:rPr>
              <a:t>Коммерческий контур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B51AE4-238F-4C4F-B4B0-24F98E4A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95850"/>
            <a:ext cx="377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Есть модель дохода через комиссии, оборот и операционную эффективность.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730BD4-4AE8-4CFF-AEDB-5DA4AD5D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4B1E77-DF7C-4D1B-8132-1433DF33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ADD0F2-0C67-48D0-99B5-927D1C87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C76A88-C67B-4E66-B25E-120D468C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339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A6E024-AE97-4B07-8A1F-CEDC81A4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96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438"/>
                </a:solidFill>
              </a:defRPr>
            </a:pPr>
            <a:r>
              <a:rPr sz="1125" b="1">
                <a:solidFill>
                  <a:srgbClr val="B88438"/>
                </a:solidFill>
              </a:rPr>
              <a:t>Sales-материал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C0A31D-CA26-4573-A31A-F2B7769F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95850"/>
            <a:ext cx="377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1413B"/>
                </a:solidFill>
              </a:defRPr>
            </a:pPr>
            <a:r>
              <a:rPr sz="975" b="0">
                <a:solidFill>
                  <a:srgbClr val="31413B"/>
                </a:solidFill>
              </a:rPr>
              <a:t>Демо помогает проводить встречи с клиентами и партнерами уже сейчас.</a:t>
            </a:r>
          </a:p>
        </p:txBody>
      </p:sp>
    </p:spTree>
    <p:extLst>
      <p:ext uri="{BB962C8B-B14F-4D97-AF65-F5344CB8AC3E}">
        <p14:creationId xmlns:p14="http://schemas.microsoft.com/office/powerpoint/2010/main" val="9899207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77CB49-456C-44C5-A1DF-1C5E9F356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0C5F2-BB99-4412-A066-E435D8AD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000250"/>
            <a:ext cx="5524500" cy="552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EE7EE-A8D9-4292-AF27-995764B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20955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75FFC-5367-4A33-A135-9D551E6B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62500"/>
            <a:ext cx="39052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7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792C7-D253-4AB7-BAAF-49B78B72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2259F-475F-488E-84A4-E36A8D0F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DB2DC-BDFA-41DC-9804-60F89D85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5F406-1A17-482F-A1F7-1049CBE4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5AF53-2759-404A-8949-252DE7ED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28146-4BC5-44E7-819D-D019AD4E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52F74-E36E-4DC2-A535-48B8A8FB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C4855-5A58-4708-9524-B98BEFE9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31E5E-3F16-4561-8273-7FB13B3D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F37"/>
                </a:solidFill>
              </a:defRPr>
            </a:pPr>
            <a:r>
              <a:rPr sz="900" b="1">
                <a:solidFill>
                  <a:srgbClr val="173F37"/>
                </a:solidFill>
              </a:rPr>
              <a:t>13 /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A4B24-CFFC-4102-B436-103E3968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A6E"/>
                </a:solidFill>
              </a:defRPr>
            </a:pPr>
            <a:r>
              <a:rPr sz="975" b="1">
                <a:solidFill>
                  <a:srgbClr val="0B7A6E"/>
                </a:solidFill>
              </a:rPr>
              <a:t>12 · ROADMAP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FD7DD-32ED-4845-8279-BEAAC793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76C36D-F50A-45AA-8D8E-99D52273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231E"/>
                </a:solidFill>
              </a:defRPr>
            </a:pPr>
            <a:r>
              <a:rPr sz="2925" b="1">
                <a:solidFill>
                  <a:srgbClr val="12231E"/>
                </a:solidFill>
              </a:rPr>
              <a:t>Как превратить демо в production-продукт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41398-3D87-4C7F-9DD2-6F7786FD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Следующий этап - не переписывать все заново, а усилить прототип production-слоями.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CCB54B-AE76-4793-B58A-6637205E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362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7A6E">
              <a:alpha val="11373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CBF33-8196-499E-B3AC-8E2B104D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7A6E"/>
                </a:solidFill>
              </a:defRPr>
            </a:pPr>
            <a:r>
              <a:rPr sz="1350" b="1">
                <a:solidFill>
                  <a:srgbClr val="0B7A6E"/>
                </a:solidFill>
              </a:rPr>
              <a:t>Этап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17BE7-AF8A-47F2-AAF2-DF98B199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1413B"/>
                </a:solidFill>
              </a:defRPr>
            </a:pPr>
            <a:r>
              <a:rPr sz="1050" b="0">
                <a:solidFill>
                  <a:srgbClr val="31413B"/>
                </a:solidFill>
              </a:rPr>
              <a:t>Hosted DB, авторизация, RBAC, audit trail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6D0701-5BA1-435B-BF27-26ED655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14800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F37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2ADAF-59C6-4B0B-9C28-502E3E74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24250"/>
            <a:ext cx="2362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813E2D-D920-4901-BAC6-D45FF35C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719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7A6E"/>
                </a:solidFill>
              </a:defRPr>
            </a:pPr>
            <a:r>
              <a:rPr sz="1350" b="1">
                <a:solidFill>
                  <a:srgbClr val="0B7A6E"/>
                </a:solidFill>
              </a:rPr>
              <a:t>Этап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E6C282-B8E2-49BE-9050-94845F04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6720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1413B"/>
                </a:solidFill>
              </a:defRPr>
            </a:pPr>
            <a:r>
              <a:rPr sz="1050" b="0">
                <a:solidFill>
                  <a:srgbClr val="31413B"/>
                </a:solidFill>
              </a:rPr>
              <a:t>Провайдеры, webhooks, файлы по апелляциям, аналитика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712213-BF0E-4B8F-ACEB-5EE084D6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14800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F37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91929B-0DA4-4275-ABC6-6AB428B2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4250"/>
            <a:ext cx="2362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7E6983-B7F4-4B93-9A8E-CE99620E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7A6E"/>
                </a:solidFill>
              </a:defRPr>
            </a:pPr>
            <a:r>
              <a:rPr sz="1350" b="1">
                <a:solidFill>
                  <a:srgbClr val="0B7A6E"/>
                </a:solidFill>
              </a:rPr>
              <a:t>Этап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76E360-8501-4244-BC90-2266E4DC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6720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1413B"/>
                </a:solidFill>
              </a:defRPr>
            </a:pPr>
            <a:r>
              <a:rPr sz="1050" b="0">
                <a:solidFill>
                  <a:srgbClr val="31413B"/>
                </a:solidFill>
              </a:rPr>
              <a:t>Маршрутизация, лимиты, риск-правила, SLA-мониторинг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BB5902-9E33-4F1C-85C0-8DDFF8BB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14800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F37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9FB92F-888C-4936-B06E-4BECCE8F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2362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B88438">
              <a:alpha val="12157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D91BB7-AB98-43B2-9DC0-81836750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719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8438"/>
                </a:solidFill>
              </a:defRPr>
            </a:pPr>
            <a:r>
              <a:rPr sz="1350" b="1">
                <a:solidFill>
                  <a:srgbClr val="B88438"/>
                </a:solidFill>
              </a:rPr>
              <a:t>Этап 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38E2F2-00CB-492A-A192-2AD674AF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6720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1413B"/>
                </a:solidFill>
              </a:defRPr>
            </a:pPr>
            <a:r>
              <a:rPr sz="1050" b="0">
                <a:solidFill>
                  <a:srgbClr val="31413B"/>
                </a:solidFill>
              </a:rPr>
              <a:t>Пилоты с мерчантами, unit economics, масштабирование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DEC871-908D-4B52-86E7-6EF6E9C2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53100"/>
            <a:ext cx="9144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2231E">
              <a:alpha val="93725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28A6F5-0661-4E32-9302-80E2E96C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905500"/>
            <a:ext cx="853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6F0E4"/>
                </a:solidFill>
              </a:defRPr>
            </a:pPr>
            <a:r>
              <a:rPr sz="1050" b="1">
                <a:solidFill>
                  <a:srgbClr val="F6F0E4"/>
                </a:solidFill>
              </a:rPr>
              <a:t>Сильная сторона прототипа: он уже задает бизнес-структуру продукта и ускоряет постановку задач команде.</a:t>
            </a:r>
          </a:p>
        </p:txBody>
      </p:sp>
    </p:spTree>
    <p:extLst>
      <p:ext uri="{BB962C8B-B14F-4D97-AF65-F5344CB8AC3E}">
        <p14:creationId xmlns:p14="http://schemas.microsoft.com/office/powerpoint/2010/main" val="302735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77CB49-456C-44C5-A1DF-1C5E9F356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72405-6410-402C-8A11-6E23F629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000250"/>
            <a:ext cx="5524500" cy="552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33DC8-86D1-4CCC-8560-B5F587B1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20955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6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F3015-6A50-4117-B81F-82EA582D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62500"/>
            <a:ext cx="39052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7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DD152-7D13-4B3E-8A95-97D31636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6CFBE-9028-4C08-908F-DA228B5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7D909-6101-4DBD-9C3E-02F9F20A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3EA32-D702-4284-B037-22C01984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7EFE1-E93F-4DD2-880B-AA526638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161C5-9B5B-44BC-A58E-68375DE0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E6BF2-9085-4021-B3FF-35DB34EE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6B2CE-EFCC-401D-A87A-DB733377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A1170-A63F-4B56-8A67-AC647632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F37"/>
                </a:solidFill>
              </a:defRPr>
            </a:pPr>
            <a:r>
              <a:rPr sz="900" b="1">
                <a:solidFill>
                  <a:srgbClr val="173F37"/>
                </a:solidFill>
              </a:rPr>
              <a:t>14 /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76FB5-948B-44CB-9065-83A60917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A6E"/>
                </a:solidFill>
              </a:defRPr>
            </a:pPr>
            <a:r>
              <a:rPr sz="975" b="1">
                <a:solidFill>
                  <a:srgbClr val="0B7A6E"/>
                </a:solidFill>
              </a:rPr>
              <a:t>13 · СЛЕДУЮЩИЙ ШАГ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F4D87-64A6-4594-BD0E-85C6F0B2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1E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B6700-2483-414E-ABA0-D2465263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231E"/>
                </a:solidFill>
              </a:defRPr>
            </a:pPr>
            <a:r>
              <a:rPr sz="2925" b="1">
                <a:solidFill>
                  <a:srgbClr val="12231E"/>
                </a:solidFill>
              </a:rPr>
              <a:t>Предлагаем пройти демо и выбрать формат сотрудничества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FBB35-AD8F-40A7-B23D-8213DE79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66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3B"/>
                </a:solidFill>
              </a:defRPr>
            </a:pPr>
            <a:r>
              <a:rPr sz="1350" b="0">
                <a:solidFill>
                  <a:srgbClr val="31413B"/>
                </a:solidFill>
              </a:rPr>
              <a:t>После 30-45 минут демонстрации можно принять решение: пилот, кастомизация, инвестиционный раунд или совместная разработка.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73318-086D-420B-938B-4A7483CD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59A7E6-11DA-4484-B47B-DB364D7B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F64610-736B-49DB-9F8A-F05D2F95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54156C-BC82-45E8-A18C-010368D1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9097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F565C-17D0-47C2-B1E4-6DB8A28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95725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A6E"/>
                </a:solidFill>
              </a:defRPr>
            </a:pPr>
            <a:r>
              <a:rPr sz="1200" b="1">
                <a:solidFill>
                  <a:srgbClr val="0B7A6E"/>
                </a:solidFill>
              </a:rPr>
              <a:t>Для клиента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321FAA-4A15-4B2B-AFC1-E17A11CF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1413B"/>
                </a:solidFill>
              </a:defRPr>
            </a:pPr>
            <a:r>
              <a:rPr sz="1125" b="0">
                <a:solidFill>
                  <a:srgbClr val="31413B"/>
                </a:solidFill>
              </a:rPr>
              <a:t>Пилот под ваши процессы, роли, комиссии и платежные сценарии.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427242-616F-4C82-862C-06EA27A5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A1DFCC-39E9-49B3-BB05-AF4659A9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D1D141-7F9E-4140-BB92-81E23FE2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FB9DE5-157D-466F-9A33-1114DF51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9097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9A4058-D2FC-479A-8E02-E5C931E2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95725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438"/>
                </a:solidFill>
              </a:defRPr>
            </a:pPr>
            <a:r>
              <a:rPr sz="1200" b="1">
                <a:solidFill>
                  <a:srgbClr val="B88438"/>
                </a:solidFill>
              </a:rPr>
              <a:t>Для инвестора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43F112-8BDE-45F6-8A62-7F72DB1E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81500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1413B"/>
                </a:solidFill>
              </a:defRPr>
            </a:pPr>
            <a:r>
              <a:rPr sz="1125" b="0">
                <a:solidFill>
                  <a:srgbClr val="31413B"/>
                </a:solidFill>
              </a:rPr>
              <a:t>Оценка MVP, roadmap, рынка, бюджета и сроков production-версии.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4D97D4-52DB-4D55-BEA0-B24DCE66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CFAF5">
              <a:alpha val="90980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E5CDE7-05EC-45A2-8F7D-52533D68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3D3D0A-415A-4D60-8112-9698DC2A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86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231E">
                <a:alpha val="7843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32E506-5BE1-44ED-8F15-A99EB77C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9097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1C4FDB-8B27-44A2-B77A-CA5375CF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95725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F37"/>
                </a:solidFill>
              </a:defRPr>
            </a:pPr>
            <a:r>
              <a:rPr sz="1200" b="1">
                <a:solidFill>
                  <a:srgbClr val="173F37"/>
                </a:solidFill>
              </a:rPr>
              <a:t>Для партнера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8ECE58-DB91-423B-9B5E-2AD3E5C7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1413B"/>
                </a:solidFill>
              </a:defRPr>
            </a:pPr>
            <a:r>
              <a:rPr sz="1125" b="0">
                <a:solidFill>
                  <a:srgbClr val="31413B"/>
                </a:solidFill>
              </a:rPr>
              <a:t>Интеграция провайдеров, совместная упаковка и запуск продаж.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8A0930-18FA-49A6-89A5-CE880DDA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34050"/>
            <a:ext cx="925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231E">
              <a:alpha val="94902"/>
            </a:srgbClr>
          </a:solidFill>
          <a:ln xmlns:a="http://schemas.openxmlformats.org/drawingml/2006/main" w="10478">
            <a:solidFill>
              <a:srgbClr val="12231E">
                <a:alpha val="9412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BCDBFC-AD79-4149-95ED-260939C4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905500"/>
            <a:ext cx="864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0E4"/>
                </a:solidFill>
              </a:defRPr>
            </a:pPr>
            <a:r>
              <a:rPr sz="1200" b="1">
                <a:solidFill>
                  <a:srgbClr val="F6F0E4"/>
                </a:solidFill>
              </a:rPr>
              <a:t>Цель встречи: перейти от абстрактной идеи к конкретной модели продукта, денег и запуска.</a:t>
            </a:r>
          </a:p>
        </p:txBody>
      </p:sp>
    </p:spTree>
    <p:extLst>
      <p:ext uri="{BB962C8B-B14F-4D97-AF65-F5344CB8AC3E}">
        <p14:creationId xmlns:p14="http://schemas.microsoft.com/office/powerpoint/2010/main" val="1221534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2026-05-09T16:17:25.8130000Z</dcterms:created>
  <dcterms:modified xsi:type="dcterms:W3CDTF">2026-05-09T16:17:25.8130000Z</dcterms:modified>
</coreProperties>
</file>