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7b155ded6473a" /><Relationship Type="http://schemas.openxmlformats.org/officeDocument/2006/relationships/extended-properties" Target="/docProps/app.xml" Id="R723708639f8c48f0" /><Relationship Type="http://schemas.openxmlformats.org/officeDocument/2006/relationships/officeDocument" Target="/ppt/presentation.xml" Id="Rd583ec48ee224c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185314fcd340b6"/>
  </p:sldMasterIdLst>
  <p:notesMasterIdLst>
    <p:notesMasterId xmlns:r="http://schemas.openxmlformats.org/officeDocument/2006/relationships" r:id="R4ea58ade5e1b49d5"/>
  </p:notesMasterIdLst>
  <p:sldIdLst>
    <p:sldId xmlns:r="http://schemas.openxmlformats.org/officeDocument/2006/relationships" id="256" r:id="R6b9980d8830f4b61"/>
    <p:sldId xmlns:r="http://schemas.openxmlformats.org/officeDocument/2006/relationships" id="257" r:id="R2b82af56d5ec4856"/>
    <p:sldId xmlns:r="http://schemas.openxmlformats.org/officeDocument/2006/relationships" id="258" r:id="Rbc7eb6d79635469c"/>
    <p:sldId xmlns:r="http://schemas.openxmlformats.org/officeDocument/2006/relationships" id="259" r:id="R21d7b68d15cb4ee7"/>
    <p:sldId xmlns:r="http://schemas.openxmlformats.org/officeDocument/2006/relationships" id="260" r:id="Rf9a0d221329e4a6c"/>
    <p:sldId xmlns:r="http://schemas.openxmlformats.org/officeDocument/2006/relationships" id="261" r:id="R7ee124a8051c4a34"/>
    <p:sldId xmlns:r="http://schemas.openxmlformats.org/officeDocument/2006/relationships" id="262" r:id="Rf565faf0c60b4043"/>
    <p:sldId xmlns:r="http://schemas.openxmlformats.org/officeDocument/2006/relationships" id="263" r:id="R35ea15ad6d264343"/>
    <p:sldId xmlns:r="http://schemas.openxmlformats.org/officeDocument/2006/relationships" id="264" r:id="Rba0907f7aff146a3"/>
    <p:sldId xmlns:r="http://schemas.openxmlformats.org/officeDocument/2006/relationships" id="265" r:id="R76f8f4d634cf4c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85314fcd340b6" /><Relationship Type="http://schemas.openxmlformats.org/officeDocument/2006/relationships/theme" Target="/ppt/theme/theme1.xml" Id="R17bb482284d44342" /><Relationship Type="http://schemas.openxmlformats.org/officeDocument/2006/relationships/notesMaster" Target="/ppt/notesMasters/notesMaster1.xml" Id="R4ea58ade5e1b49d5" /><Relationship Type="http://schemas.openxmlformats.org/officeDocument/2006/relationships/presProps" Target="/ppt/presProps.xml" Id="R36d22288ca754613" /><Relationship Type="http://schemas.openxmlformats.org/officeDocument/2006/relationships/viewProps" Target="/ppt/viewProps.xml" Id="Re60904e657a145e7" /><Relationship Type="http://schemas.openxmlformats.org/officeDocument/2006/relationships/tableStyles" Target="/ppt/tableStyles.xml" Id="Rbc803dd1abc9455c" /><Relationship Type="http://schemas.openxmlformats.org/officeDocument/2006/relationships/slide" Target="/ppt/slides/slide1.xml" Id="R6b9980d8830f4b61" /><Relationship Type="http://schemas.openxmlformats.org/officeDocument/2006/relationships/slide" Target="/ppt/slides/slide2.xml" Id="R2b82af56d5ec4856" /><Relationship Type="http://schemas.openxmlformats.org/officeDocument/2006/relationships/slide" Target="/ppt/slides/slide3.xml" Id="Rbc7eb6d79635469c" /><Relationship Type="http://schemas.openxmlformats.org/officeDocument/2006/relationships/slide" Target="/ppt/slides/slide4.xml" Id="R21d7b68d15cb4ee7" /><Relationship Type="http://schemas.openxmlformats.org/officeDocument/2006/relationships/slide" Target="/ppt/slides/slide5.xml" Id="Rf9a0d221329e4a6c" /><Relationship Type="http://schemas.openxmlformats.org/officeDocument/2006/relationships/slide" Target="/ppt/slides/slide6.xml" Id="R7ee124a8051c4a34" /><Relationship Type="http://schemas.openxmlformats.org/officeDocument/2006/relationships/slide" Target="/ppt/slides/slide7.xml" Id="Rf565faf0c60b4043" /><Relationship Type="http://schemas.openxmlformats.org/officeDocument/2006/relationships/slide" Target="/ppt/slides/slide8.xml" Id="R35ea15ad6d264343" /><Relationship Type="http://schemas.openxmlformats.org/officeDocument/2006/relationships/slide" Target="/ppt/slides/slide9.xml" Id="Rba0907f7aff146a3" /><Relationship Type="http://schemas.openxmlformats.org/officeDocument/2006/relationships/slide" Target="/ppt/slides/slide10.xml" Id="R76f8f4d634cf4c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aa4aef9241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6b57f2d6849f2" /><Relationship Type="http://schemas.openxmlformats.org/officeDocument/2006/relationships/notesMaster" Target="/ppt/notesMasters/notesMaster1.xml" Id="Rf374038590e440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6ea0b1c8964f0c" /><Relationship Type="http://schemas.openxmlformats.org/officeDocument/2006/relationships/notesMaster" Target="/ppt/notesMasters/notesMaster1.xml" Id="Rc617c52fe09b40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af0c86e494255" /><Relationship Type="http://schemas.openxmlformats.org/officeDocument/2006/relationships/notesMaster" Target="/ppt/notesMasters/notesMaster1.xml" Id="R386dd6bfaa0540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8b951f883408c" /><Relationship Type="http://schemas.openxmlformats.org/officeDocument/2006/relationships/notesMaster" Target="/ppt/notesMasters/notesMaster1.xml" Id="Re835a990c50a49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58fc991cc54045" /><Relationship Type="http://schemas.openxmlformats.org/officeDocument/2006/relationships/notesMaster" Target="/ppt/notesMasters/notesMaster1.xml" Id="Rab634212abeb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f54cfa2a394f8e" /><Relationship Type="http://schemas.openxmlformats.org/officeDocument/2006/relationships/notesMaster" Target="/ppt/notesMasters/notesMaster1.xml" Id="Rcf28ecba93f0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f9bd89ea804d11" /><Relationship Type="http://schemas.openxmlformats.org/officeDocument/2006/relationships/notesMaster" Target="/ppt/notesMasters/notesMaster1.xml" Id="Ra17ddeada79344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14940a1784aea" /><Relationship Type="http://schemas.openxmlformats.org/officeDocument/2006/relationships/notesMaster" Target="/ppt/notesMasters/notesMaster1.xml" Id="R71b5f5fd05c14c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6f3d2ac27d443d" /><Relationship Type="http://schemas.openxmlformats.org/officeDocument/2006/relationships/notesMaster" Target="/ppt/notesMasters/notesMaster1.xml" Id="R5d8ca0bcb2804e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733db391894020" /><Relationship Type="http://schemas.openxmlformats.org/officeDocument/2006/relationships/notesMaster" Target="/ppt/notesMasters/notesMaster1.xml" Id="R453f8d879332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Открывающий слайд. Акцент: это рабочий прототип, а не статичная картинка.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Прототип объединяет интерфейс, локальные API, базу данных, seed-данные и сценарии, чтобы быстро объяснить продукт партнеру или инвестору.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Переключатель ролей показывает, как один продукт выглядит для разных участников платежного процесса.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Внутри есть не только экраны, но и связанная логика между операционными, финансовыми и support-модулями.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Ордер проходит понятную цепочку статусов, а финансовое действие происходит только в бизнес-значимых переходах.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Финансовая логика объясняет, когда деньги доступны, когда они заморожены и как фиксируются комиссии.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Спор не теряется в комментариях: он становится сущностью с причиной, ответственным, историей, решением и влиянием на баланс.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Локальные API routes показывают, как мерчант и провайдер могли бы обмениваться событиями без подключения реальных сервисов.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 помогают за несколько минут показать весь продуктовый контур от создания ордера до решения апелляции.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Прототип снижает неопределенность: можно увидеть продукт, пройти сценарии, обсудить логику и согласовать следующий этап разработки.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2dc770425491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81AE4B3-89F8-4D51-8017-375A36DACD2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8B274D-32DE-4499-AB02-079995240F6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ED1F21-AF3A-4AE1-A812-62316646C3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855BF9-1087-4349-99CD-2F054BF9B36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cdf612137e490b" /><Relationship Type="http://schemas.openxmlformats.org/officeDocument/2006/relationships/slideLayout" Target="/ppt/slideLayouts/slideLayout2.xml" Id="R9c102c5c0bb2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12902-4749-4914-8C44-2E39E34F125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02c5c0bb2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eabad425442cd" /><Relationship Type="http://schemas.openxmlformats.org/officeDocument/2006/relationships/notesSlide" Target="/ppt/notesSlides/notesSlide1.xml" Id="R12a9bdfb57eb42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220e35a964e2e" /><Relationship Type="http://schemas.openxmlformats.org/officeDocument/2006/relationships/notesSlide" Target="/ppt/notesSlides/notesSlide2.xml" Id="R11a506bc58ef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3e2e89ed74e2c" /><Relationship Type="http://schemas.openxmlformats.org/officeDocument/2006/relationships/notesSlide" Target="/ppt/notesSlides/notesSlide3.xml" Id="R5828ce542b0c4d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e1e30ee9848b1" /><Relationship Type="http://schemas.openxmlformats.org/officeDocument/2006/relationships/notesSlide" Target="/ppt/notesSlides/notesSlide4.xml" Id="R7fcae3ea3fc544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85bed2c1541a4" /><Relationship Type="http://schemas.openxmlformats.org/officeDocument/2006/relationships/notesSlide" Target="/ppt/notesSlides/notesSlide5.xml" Id="Rd9343de60840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99732f7eba40eb" /><Relationship Type="http://schemas.openxmlformats.org/officeDocument/2006/relationships/notesSlide" Target="/ppt/notesSlides/notesSlide6.xml" Id="R3fd77632766a46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f6dd7e1834c6f" /><Relationship Type="http://schemas.openxmlformats.org/officeDocument/2006/relationships/notesSlide" Target="/ppt/notesSlides/notesSlide7.xml" Id="R8ea8ac8752ba47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86fc9b640c4538" /><Relationship Type="http://schemas.openxmlformats.org/officeDocument/2006/relationships/notesSlide" Target="/ppt/notesSlides/notesSlide8.xml" Id="R1dd844c0fe554a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be3cc88bb4e6a" /><Relationship Type="http://schemas.openxmlformats.org/officeDocument/2006/relationships/notesSlide" Target="/ppt/notesSlides/notesSlide9.xml" Id="Rb97dc9c130844c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9104339f14344" /><Relationship Type="http://schemas.openxmlformats.org/officeDocument/2006/relationships/notesSlide" Target="/ppt/notesSlides/notesSlide10.xml" Id="Rf12c5a095a69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460CB-AB70-4496-8962-4CDD0F4A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E5F0-3EC9-4081-9F96-3BF4548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0EA84-C367-4F51-A420-D4C009A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7C4E1-DE80-4290-BE6B-7C42BAF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645A7-3399-48B9-AD18-36863BF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01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E185-2B11-4E12-A3FA-4FC0ED5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7AF72-AF39-487D-9496-88261B44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66C"/>
                </a:solidFill>
              </a:defRPr>
            </a:pPr>
            <a:r>
              <a:rPr sz="1050" b="1">
                <a:solidFill>
                  <a:srgbClr val="0D766C"/>
                </a:solidFill>
              </a:rPr>
              <a:t>FINTECH SAAS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6900B-F996-40E3-95B0-23C9E07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41F"/>
                </a:solidFill>
              </a:defRPr>
            </a:pPr>
            <a:r>
              <a:rPr sz="3600" b="1">
                <a:solidFill>
                  <a:srgbClr val="14241F"/>
                </a:solidFill>
              </a:rPr>
              <a:t>Интерактивный прототип платежной платформы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C3F9B-6176-4FC4-9E5B-D21090D5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3B"/>
                </a:solidFill>
              </a:defRPr>
            </a:pPr>
            <a:r>
              <a:rPr sz="1500" b="0">
                <a:solidFill>
                  <a:srgbClr val="31413B"/>
                </a:solidFill>
              </a:rPr>
              <a:t>Локальное приложение, которое показывает роли, процессы, статусы, операции, связи сущностей и бизнес-логику на мок-данных.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F2C9F-8B38-4F7F-B069-11089BA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95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4241F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F3E12-6BDF-48D2-91E4-3E556C9D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2E8"/>
                </a:solidFill>
              </a:defRPr>
            </a:pPr>
            <a:r>
              <a:rPr sz="1275" b="1">
                <a:solidFill>
                  <a:srgbClr val="F7F2E8"/>
                </a:solidFill>
              </a:rPr>
              <a:t>Next.js · TypeScript · Prisma · 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ADA1B-012C-4B8A-B57C-B8876AE5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38250"/>
            <a:ext cx="3219450" cy="41910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6E130-4988-4C2F-84A4-CE8C90E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766C">
              <a:alpha val="13333"/>
            </a:srgbClr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C3F5B-C350-4D4D-901B-DEB6C740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Роли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4597-F1CA-473E-8D76-8484A8F8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526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5863B">
              <a:alpha val="13333"/>
            </a:srgbClr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7F591-4E42-49E5-92E9-4A954F7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Ордера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F29E2-DF24-44C3-8F4B-F45D938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766C">
              <a:alpha val="13333"/>
            </a:srgbClr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B83D1-3225-42A7-A563-36BAC4AA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Балансы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E4C83-436F-454D-A6A8-4C10423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5863B">
              <a:alpha val="13333"/>
            </a:srgbClr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39CAD-52AB-41E6-9E8D-5C7E6769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Апелляции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82743-B8CF-4E32-BAC7-A69B4BA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766C">
              <a:alpha val="13333"/>
            </a:srgbClr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6562F-F6AE-41A6-96B6-DFE1FD23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80E63-A8EF-4684-9AF9-9E2C4F9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052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5863B">
              <a:alpha val="13333"/>
            </a:srgbClr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126DD-D5AE-4D5D-9A6C-B8F37084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Сценарии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A4D09-7A71-4B47-8E2F-800ECB15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483F"/>
                </a:solidFill>
              </a:defRPr>
            </a:pPr>
            <a:r>
              <a:rPr sz="1350" b="1">
                <a:solidFill>
                  <a:srgbClr val="17483F"/>
                </a:solidFill>
              </a:rPr>
              <a:t>Работает локально · данные моковые · логика кликабельная</a:t>
            </a:r>
          </a:p>
        </p:txBody>
      </p:sp>
    </p:spTree>
    <p:extLst>
      <p:ext uri="{BB962C8B-B14F-4D97-AF65-F5344CB8AC3E}">
        <p14:creationId xmlns:p14="http://schemas.microsoft.com/office/powerpoint/2010/main" val="1934866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A6C5-9A99-455A-9256-144AA33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42580-53EB-45CC-8FDF-16B18D37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BA93E-6303-4BBA-8575-6904DF5A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B91E1-3F51-4DCC-A26F-22C36F4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53831-B8BB-4CF2-B0FF-55ED120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AC10B-E9C9-4DEF-B06B-BFF0519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01 · СУТЬ 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7A30D-3B92-4450-9E0F-95EABC69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FC9AB-B774-4D25-AF7E-6188FF90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Что уже собрано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F1FDE-E631-4B4C-B848-FB8BB70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Прототип объединяет интерфейс, локальные API, базу данных, seed-данные и сценарии, чтобы быстро объяснить продукт партнеру или инвестору.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33FF2-7A94-4201-BC37-B49A0E37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3FB00-C680-49AA-8CD7-1279724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66960-757C-4517-9EF2-188A13F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94936-1546-4149-8352-D07A4D4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205E6-CEF3-449B-AE19-6036EEDD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766C"/>
                </a:solidFill>
              </a:defRPr>
            </a:pPr>
            <a:r>
              <a:rPr sz="1125" b="1">
                <a:solidFill>
                  <a:srgbClr val="0D766C"/>
                </a:solidFill>
              </a:rPr>
              <a:t>Рабочая локальная система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FA537-4673-4D4A-9331-991F71FE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Запускается на компьютере и открывается в браузере без внешних платежных сервисов.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A8FE8-806C-4BE3-BA58-C087908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072A0-517A-4058-BCC5-4DD055A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FF5C2-FCB6-4EEA-B9B5-C52C00D4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30C24-7F66-4204-92D7-F46D7BF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5DBE7-5E82-4A81-B9A7-658ABB3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863B"/>
                </a:solidFill>
              </a:defRPr>
            </a:pPr>
            <a:r>
              <a:rPr sz="1125" b="1">
                <a:solidFill>
                  <a:srgbClr val="B5863B"/>
                </a:solidFill>
              </a:rPr>
              <a:t>Живые данные и действия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938AB-0A3F-4C12-8100-5538A9BD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Статусы меняются, балансы пересчитываются, уведомления и события создаются автоматически.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E3A01-BC6B-44E4-995F-48A4CBF5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806A3-9928-4B8B-ACBB-2235322D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E07AF-D860-4A0C-BCB2-DFC3B75B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C2C997-FE3D-4691-B80D-F87C759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2E116-E1D7-4E3F-A3D4-9C269A17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83F"/>
                </a:solidFill>
              </a:defRPr>
            </a:pPr>
            <a:r>
              <a:rPr sz="1125" b="1">
                <a:solidFill>
                  <a:srgbClr val="17483F"/>
                </a:solidFill>
              </a:rPr>
              <a:t>Презентационный контур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7D6A80-045D-45A6-9833-8E4AF16E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Можно показать роли, модули, жизненный цикл операции и спорные сценарии на понятных мок-данных.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6333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C0B82-837C-495D-BB92-F28F228C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E09EB-A8A2-4648-A6DF-E4E76F6E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25490-7AE1-468F-9396-70BE8AD6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0F178-62BC-447E-936A-E9ABA86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7496A-8B56-4BF5-8137-43DAFF7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E5F5D-B108-4341-8DF3-50FDCEDE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02 · РОЛИ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41C5B-7583-4507-9E5D-83E94904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28583-2FB7-450F-B93A-B9FBAC6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Роли и зоны ответственности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79D9D-C7F2-4170-BA85-FA586EA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Переключатель ролей показывает, как один продукт выглядит для разных участников платежного процесса.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D5EF2-6F71-449F-B84F-2428C697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38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ECE8">
              <a:alpha val="72157"/>
            </a:srgbClr>
          </a:solidFill>
          <a:ln xmlns:a="http://schemas.openxmlformats.org/drawingml/2006/main" w="9525">
            <a:solidFill>
              <a:srgbClr val="14241F">
                <a:alpha val="784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E926F-21EA-4469-BE5C-149FF7FD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1F"/>
                </a:solidFill>
              </a:defRPr>
            </a:pPr>
            <a:r>
              <a:rPr sz="1125" b="1">
                <a:solidFill>
                  <a:srgbClr val="14241F"/>
                </a:solidFill>
              </a:rPr>
              <a:t>Администратор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49428-7367-48A7-BB21-78188F0E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Вся система, провайдеры, настройки, аудит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6D451-3594-42C9-9424-23382FFE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038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14241F">
                <a:alpha val="784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A6C6F-9F77-4156-86A5-D1A2C5D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1F"/>
                </a:solidFill>
              </a:defRPr>
            </a:pPr>
            <a:r>
              <a:rPr sz="1125" b="1">
                <a:solidFill>
                  <a:srgbClr val="14241F"/>
                </a:solidFill>
              </a:rPr>
              <a:t>Мерчант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4B325-1CA7-435A-8403-FB3C4A44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Свои ордера, выплаты, баланс,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1DD0F-A8F5-4152-8B52-BB7C0E48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38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ECE8">
              <a:alpha val="72157"/>
            </a:srgbClr>
          </a:solidFill>
          <a:ln xmlns:a="http://schemas.openxmlformats.org/drawingml/2006/main" w="9525">
            <a:solidFill>
              <a:srgbClr val="14241F">
                <a:alpha val="784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06D0B-0377-4AE5-A690-8B4D642D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1F"/>
                </a:solidFill>
              </a:defRPr>
            </a:pPr>
            <a:r>
              <a:rPr sz="1125" b="1">
                <a:solidFill>
                  <a:srgbClr val="14241F"/>
                </a:solidFill>
              </a:rPr>
              <a:t>Оператор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B7A8B-D386-4C31-9AF0-3DBE4E96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Статусы, реквизиты, ручная обработка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DD347-3CCA-498B-B8CD-D6544772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38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14241F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75455-04B7-4D8E-8BDF-08AECE2C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1F"/>
                </a:solidFill>
              </a:defRPr>
            </a:pPr>
            <a:r>
              <a:rPr sz="1125" b="1">
                <a:solidFill>
                  <a:srgbClr val="14241F"/>
                </a:solidFill>
              </a:rPr>
              <a:t>Финансы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A9E2B-9A72-4040-BC35-EBC7D924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Балансы, комиссии, холды, выплаты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410DA-6B19-473C-9FE4-67161425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38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ECE8">
              <a:alpha val="72157"/>
            </a:srgbClr>
          </a:solidFill>
          <a:ln xmlns:a="http://schemas.openxmlformats.org/drawingml/2006/main" w="9525">
            <a:solidFill>
              <a:srgbClr val="14241F">
                <a:alpha val="784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F167F-BECF-4A72-BB62-4CBA151D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1F"/>
                </a:solidFill>
              </a:defRPr>
            </a:pPr>
            <a:r>
              <a:rPr sz="1125" b="1">
                <a:solidFill>
                  <a:srgbClr val="14241F"/>
                </a:solidFill>
              </a:rPr>
              <a:t>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ECA45-16CE-43B8-A3A9-DC803736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76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Апелляции, комментарии,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76171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8090-6E2D-4105-BC77-90C1283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20D2D-FA97-4D10-A55C-8C43027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92C44-C691-497D-BE07-92F06D3B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9C836-C993-442F-BCD6-DE162748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39636-E01A-4A06-83F8-604034DF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D149F-FCA1-4658-A595-1852CA88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03 · МОДУЛИ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C85C3-ABEE-4F05-810F-9D90F5AE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F11CC-0D46-4DC6-8BF8-C6CB64CC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Покрытие продукта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FEF81-F68F-4F20-8C12-229B999F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Внутри есть не только экраны, но и связанная логика между операционными, финансовыми и support-модулями.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3E446-490A-472E-B1AC-29668A8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66C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E54E8-6A95-44D6-AF07-49D8CB61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Дашборд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460FA-BAF1-44B6-9181-9F567CB3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863B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9633F-2319-4BC4-B923-096B7792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Ордера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5D145-8555-403C-81F7-04C79B8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83A1F-3226-44CB-BF55-738BAF4A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147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Выплаты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60FBC-90DF-4226-98E3-29A35276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66C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4D261-94D5-4FBE-A5F5-97F2AABF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147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Реквизиты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60B7A-5604-42B2-B901-0A0DE253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863B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0E89C-9136-4271-9820-C149428B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Балансы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80DAF-D987-474D-AE2C-D11AD98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6D8D8-329E-4687-AA12-93E954AB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338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Комиссии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9AF87-0295-4F2C-8544-264667C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66C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E27FB-BE26-45F1-A46F-36E8F76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Апелляции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B82DD-EE44-4B8B-94A2-3BC4874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863B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CF4B8-A00A-4FF0-A955-AF277442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338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Уведомления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B7402-EC42-44DE-9259-9A0E69B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B7FDD-F9E7-4681-84AF-803261FD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Журнал событий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6ED79-F388-4318-91BC-E0F0E0C8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66C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DA57E-39A1-43CF-A603-234F77F0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530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Интеграции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37F590-6B2F-4E79-9BF6-F56CF77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863B">
              <a:alpha val="941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AC3FCC-CCEB-4C2A-A147-5F320C1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530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API-демо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D2084A-7671-4AC4-BD27-EA6096E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53CEB-7D9D-497D-A609-00775BFF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530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Карта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2002870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F4A26-32DA-476A-A760-A3EB839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935D-21A2-4CCA-99A7-D5B8F71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81902-2A9A-42B8-B329-871D9C3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701FF-26F3-4BE7-A9C4-486C2944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39A62-913E-43A7-955D-99777FB5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76C12-A031-451A-9DC3-10CC920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04 · ОПЕРАЦИОННЫЙ ПОТОК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4A842-536C-4899-A1D2-29C37366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2421C-C98D-4303-8F4B-AC51108F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Жизненный цикл платежного ордера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C15B7-4841-4A79-8F0E-C8FE33E7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Ордер проходит понятную цепочку статусов, а финансовое действие происходит только в бизнес-значимых переходах.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40467-90CA-4107-BBDF-4989DB47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76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AC04E-DFEC-47E0-BFDE-E8E1EA7C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29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66C"/>
                </a:solidFill>
              </a:defRPr>
            </a:pPr>
            <a:r>
              <a:rPr sz="1350" b="1">
                <a:solidFill>
                  <a:srgbClr val="0D766C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27F0D-82CB-4F5A-B575-870F86F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1F"/>
                </a:solidFill>
              </a:defRPr>
            </a:pPr>
            <a:r>
              <a:rPr sz="1275" b="1">
                <a:solidFill>
                  <a:srgbClr val="14241F"/>
                </a:solidFill>
              </a:rPr>
              <a:t>Создан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2ECBF-B176-4F8C-ACA7-5535A6F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952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7131B-A2A1-4453-A54D-ADC4731D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76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27FF4-0A74-4305-8EB7-E3FAABD4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29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66C"/>
                </a:solidFill>
              </a:defRPr>
            </a:pPr>
            <a:r>
              <a:rPr sz="1350" b="1">
                <a:solidFill>
                  <a:srgbClr val="0D766C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B245D-F20F-4A25-AAF3-F56FA648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1F"/>
                </a:solidFill>
              </a:defRPr>
            </a:pPr>
            <a:r>
              <a:rPr sz="1275" b="1">
                <a:solidFill>
                  <a:srgbClr val="14241F"/>
                </a:solidFill>
              </a:rPr>
              <a:t>Ожидает оплаты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EC59C-230B-4C3A-802F-D0CC6CCE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952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8D873-47BE-4EC8-BC3E-97BCD62D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76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76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18E95-1165-4716-929D-26CF843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29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66C"/>
                </a:solidFill>
              </a:defRPr>
            </a:pPr>
            <a:r>
              <a:rPr sz="1350" b="1">
                <a:solidFill>
                  <a:srgbClr val="0D766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B762B-4491-4149-8154-728C329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1F"/>
                </a:solidFill>
              </a:defRPr>
            </a:pPr>
            <a:r>
              <a:rPr sz="1275" b="1">
                <a:solidFill>
                  <a:srgbClr val="14241F"/>
                </a:solidFill>
              </a:rPr>
              <a:t>Оплачен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7C3FC-CCDE-400A-AA2A-E27746D5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9BAB9-1341-4D23-AFF6-5B94B309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76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89C78-D64B-4B68-A6C0-FA9F8DB5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29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66C"/>
                </a:solidFill>
              </a:defRPr>
            </a:pPr>
            <a:r>
              <a:rPr sz="1350" b="1">
                <a:solidFill>
                  <a:srgbClr val="0D766C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D0157-5BAC-4C98-AE27-8923A1D1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1F"/>
                </a:solidFill>
              </a:defRPr>
            </a:pPr>
            <a:r>
              <a:rPr sz="1275" b="1">
                <a:solidFill>
                  <a:srgbClr val="14241F"/>
                </a:solidFill>
              </a:rPr>
              <a:t>Подтвержден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F0F87-6D0E-48E8-A457-2100873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952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E80E7-ED23-444E-B005-115816DE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76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19050">
            <a:solidFill>
              <a:srgbClr val="0D76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DF9B4-E2A2-4484-A55A-807CFB2F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29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3BBE14-47A3-4399-8A3E-0502B9B7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1F"/>
                </a:solidFill>
              </a:defRPr>
            </a:pPr>
            <a:r>
              <a:rPr sz="1275" b="1">
                <a:solidFill>
                  <a:srgbClr val="14241F"/>
                </a:solidFill>
              </a:rPr>
              <a:t>Завершен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5BF0D-4AEE-4403-9770-307184E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5863B">
              <a:alpha val="12157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3B208-D928-417A-AA9E-CFFFDCC9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00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863B"/>
                </a:solidFill>
              </a:defRPr>
            </a:pPr>
            <a:r>
              <a:rPr sz="1350" b="1">
                <a:solidFill>
                  <a:srgbClr val="B5863B"/>
                </a:solidFill>
              </a:rPr>
              <a:t>Спорная ветка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F4C4C6-C0A1-4A58-B5A3-D69C8087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8165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3B"/>
                </a:solidFill>
              </a:defRPr>
            </a:pPr>
            <a:r>
              <a:rPr sz="1200" b="0">
                <a:solidFill>
                  <a:srgbClr val="31413B"/>
                </a:solidFill>
              </a:rPr>
              <a:t>Операция может уйти в спор, создать апелляцию и заморозить часть баланса до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979762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C316E-6571-4C74-9532-759DFEB3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7C0EC-A475-4E02-838A-CF599014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5F84B-341B-4554-9586-5CB8AB74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A9F43-AB0D-4D6A-BD71-7CCB2D8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8E0ED-59FD-4A9E-B06B-347F7DB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AE4AF-BA06-44D9-99ED-E3252941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05 · ФИНАНСЫ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BCFFB-743A-41E8-AF1A-810AA97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3CFD2-E30F-40B0-AF3C-6DA253B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Балансы, комиссии и холды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140F5-B807-4003-BB25-F76AF83E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Финансовая логика объясняет, когда деньги доступны, когда они заморожены и как фиксируются комиссии.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08520-06FB-436A-8D99-D41C088D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DFCF6-BFE3-4FF2-B2A7-50FE8CB4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756F-4675-4CD4-BD3B-803D209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7232E-DDEF-476D-93E7-D939A141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B1A27-927C-49D8-9A53-40F3108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766C"/>
                </a:solidFill>
              </a:defRPr>
            </a:pPr>
            <a:r>
              <a:rPr sz="1125" b="1">
                <a:solidFill>
                  <a:srgbClr val="0D766C"/>
                </a:solidFill>
              </a:rPr>
              <a:t>Доступный баланс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A3763-FABE-4D8B-AEF6-BB9A02FB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Увеличивается после успешного ордера на сумму за вычетом комиссии.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F3F34-F0DA-4C5B-A369-E51B230A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BBC82-89F8-4C42-BA68-736C8025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5781A-14B4-42B9-BEB5-168874EA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3FBED-7F6B-4702-B01B-997350A6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E1353-B24A-480A-A37C-571C0A3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863B"/>
                </a:solidFill>
              </a:defRPr>
            </a:pPr>
            <a:r>
              <a:rPr sz="1125" b="1">
                <a:solidFill>
                  <a:srgbClr val="B5863B"/>
                </a:solidFill>
              </a:rPr>
              <a:t>Замороженный баланс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26E4E-BC9A-4941-897E-2C5153F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Используется для выплат и спорных операций, чтобы снизить риск двойного расходования.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49EEB-575A-42C2-99BD-D2216B91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E4AC0-EAF1-4CC4-9DDE-A2E287D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E43E0-09B1-4975-A9C8-E49BEA7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9F0C7-D96C-4A20-8427-BDDB6A61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8C527-E471-42ED-A0CD-11CFFAA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83F"/>
                </a:solidFill>
              </a:defRPr>
            </a:pPr>
            <a:r>
              <a:rPr sz="1125" b="1">
                <a:solidFill>
                  <a:srgbClr val="17483F"/>
                </a:solidFill>
              </a:rPr>
              <a:t>Комиссии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885AA-A95C-4AF7-914E-B4C7280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Фиксируются на уровне операции и отражают экономику платформы и провайдеров.</a:t>
            </a:r>
          </a:p>
        </p:txBody>
      </p:sp>
    </p:spTree>
    <p:extLst>
      <p:ext uri="{BB962C8B-B14F-4D97-AF65-F5344CB8AC3E}">
        <p14:creationId xmlns:p14="http://schemas.microsoft.com/office/powerpoint/2010/main" val="1823136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79A55-4F16-4080-B5E1-580A652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DF640-124A-434E-9B8B-B31C3CD0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FAFE9-1197-4423-BA58-1715C54C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35CBA-8A7A-45E9-9410-6BF7360D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A0D1-7A52-4C6E-89B2-6D81500B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EA90D-FCF6-4DD7-9AC1-8E9AE791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06 · РИСКИ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E248-E984-4774-B2A9-4D218FFD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03E95-F0ED-451F-A3A1-8C321D95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Апелляции и спорные операции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DFF58-5555-4A2F-9E3A-2D036E19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Спор не теряется в комментариях: он становится сущностью с причиной, ответственным, историей, решением и влиянием на баланс.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B76FC-ED8A-41D7-9582-0D6CA31A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BB4BF-6988-43BD-B316-A080BFA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766C"/>
                </a:solidFill>
              </a:defRPr>
            </a:pPr>
            <a:r>
              <a:rPr sz="1575" b="1">
                <a:solidFill>
                  <a:srgbClr val="0D766C"/>
                </a:solidFill>
              </a:rPr>
              <a:t>Новая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A18A9-160F-4B3C-A56E-7D3865E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3B"/>
                </a:solidFill>
              </a:defRPr>
            </a:pPr>
            <a:r>
              <a:rPr sz="1200" b="0">
                <a:solidFill>
                  <a:srgbClr val="31413B"/>
                </a:solidFill>
              </a:rPr>
              <a:t>создана по ордеру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F5B14-6F0D-4EF6-9DA3-15933E45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57675"/>
            <a:ext cx="723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83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EAF47-2883-4C8D-BCF0-798FFA35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37E0C-A306-448A-B3BD-76D6696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766C"/>
                </a:solidFill>
              </a:defRPr>
            </a:pPr>
            <a:r>
              <a:rPr sz="1575" b="1">
                <a:solidFill>
                  <a:srgbClr val="0D766C"/>
                </a:solidFill>
              </a:rPr>
              <a:t>В работе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24B34-9D00-444D-A68E-C4536E31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3B"/>
                </a:solidFill>
              </a:defRPr>
            </a:pPr>
            <a:r>
              <a:rPr sz="1200" b="0">
                <a:solidFill>
                  <a:srgbClr val="31413B"/>
                </a:solidFill>
              </a:rPr>
              <a:t>support проверяет данные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38AB9-5C70-4864-8350-AD5B78F4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57675"/>
            <a:ext cx="723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83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9EFEE-A030-4BD8-8E89-0C16FB8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B5863B">
              <a:alpha val="12549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788DE-8523-4DA8-9A52-969907DB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863B"/>
                </a:solidFill>
              </a:defRPr>
            </a:pPr>
            <a:r>
              <a:rPr sz="1575" b="1">
                <a:solidFill>
                  <a:srgbClr val="B5863B"/>
                </a:solidFill>
              </a:rPr>
              <a:t>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154D5-9819-4322-9B6A-1CFA85C3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3B"/>
                </a:solidFill>
              </a:defRPr>
            </a:pPr>
            <a:r>
              <a:rPr sz="1200" b="0">
                <a:solidFill>
                  <a:srgbClr val="31413B"/>
                </a:solidFill>
              </a:rPr>
              <a:t>в пользу мерчанта или платформы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17590-CFE1-451A-8A64-CA9EE383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57675"/>
            <a:ext cx="723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83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818BE-90C9-4506-ADDA-969706F0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91304-AFAC-4A7F-B9EA-89DC30A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766C"/>
                </a:solidFill>
              </a:defRPr>
            </a:pPr>
            <a:r>
              <a:rPr sz="1575" b="1">
                <a:solidFill>
                  <a:srgbClr val="0D766C"/>
                </a:solidFill>
              </a:rPr>
              <a:t>Баланс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A667D-D382-4260-BADD-3D137609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577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413B"/>
                </a:solidFill>
              </a:defRPr>
            </a:pPr>
            <a:r>
              <a:rPr sz="1200" b="0">
                <a:solidFill>
                  <a:srgbClr val="31413B"/>
                </a:solidFill>
              </a:rPr>
              <a:t>холд возвращается или списывается</a:t>
            </a:r>
          </a:p>
        </p:txBody>
      </p:sp>
    </p:spTree>
    <p:extLst>
      <p:ext uri="{BB962C8B-B14F-4D97-AF65-F5344CB8AC3E}">
        <p14:creationId xmlns:p14="http://schemas.microsoft.com/office/powerpoint/2010/main" val="1226017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30418-BD01-4F80-9D5E-41B9B29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648C3-B107-4E4E-B9B6-C8D3A007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4F7D-AB58-424B-BDAD-CEC10AE9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7D8DB-E0A5-44E8-9419-DA972B5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5EC05-7DF4-463B-B95D-27D032B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68F82-7C39-4838-92BC-95A45A0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07 · ИНТЕГРАЦИИ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136CD-DA7A-4556-9CDC-8E44769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028F8-9E11-43D1-A6C9-848BD7C7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572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API-демо и провайдеры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CE5D8-46C0-4489-8E35-05FF831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33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Локальные API routes показывают, как мерчант и провайдер могли бы обмениваться событиями без подключения реальных сервисов.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F999A-702F-43EC-8553-CE8948EA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4577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4241F">
              <a:alpha val="94902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E6E69-6209-4A32-AE75-2D90423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POST /api/orders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F40F9-412A-4FD4-BBA3-36214CA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PATCH /api/orders/{id}/status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440DC-6048-4B8F-8F4C-475E798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POST /api/payouts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26D7F-BAE8-45FF-8CF0-7C390F8D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PATCH /api/appeals/{id}/resolve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E699F-B774-485D-BF62-BC1CC13D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627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F98F8-CDB6-42D5-A26E-6C9D7ABA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40540-B590-42BD-9B76-4B132F7A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766C"/>
                </a:solidFill>
              </a:defRPr>
            </a:pPr>
            <a:r>
              <a:rPr sz="1125" b="1">
                <a:solidFill>
                  <a:srgbClr val="0D766C"/>
                </a:solidFill>
              </a:rPr>
              <a:t>Провайдеры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D07F3-FB80-4C21-BF32-33FFD1AE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Статус, комиссия, доступность, pay-in/pay-out и тестовый режим.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0FA09-8C01-48C2-B7C3-7F6148D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627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7906D-4A29-4211-AF3A-CA9143B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03993-1B7F-431F-8080-78237245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863B"/>
                </a:solidFill>
              </a:defRPr>
            </a:pPr>
            <a:r>
              <a:rPr sz="1125" b="1">
                <a:solidFill>
                  <a:srgbClr val="B5863B"/>
                </a:solidFill>
              </a:rPr>
              <a:t>Webhook-логика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CCA03-70AA-455D-88F7-9B1EDA5C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Пример изменения статуса через локальный API.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75250-23D0-4E33-A209-0B0FF5CE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8635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627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C65D4-7C7D-4BC7-837E-F84D8526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863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3390D-E53E-4CB1-92DF-965B8CD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19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83F"/>
                </a:solidFill>
              </a:defRPr>
            </a:pPr>
            <a:r>
              <a:rPr sz="1125" b="1">
                <a:solidFill>
                  <a:srgbClr val="17483F"/>
                </a:solidFill>
              </a:rPr>
              <a:t>Безопасная песочница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56CECF-9689-44D7-8225-F48058B1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673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Нет реальных денег, внешних API и персональных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038567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0B906-66DF-4137-8F0D-21ADCB6F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58567-DBB8-47F9-8490-D487878E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885B1-4B3C-4F93-8881-E500364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32CE9-9907-4A37-A7CC-33A6357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996BC-A28E-4078-92B4-2FC42A5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B048E-CE51-4D61-BB10-DC5C497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08 · ДЕМОНСТРАЦИЯ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34666-00DA-48F1-BD18-EE1C959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14C08-BA1C-4EE2-B8C5-9BE34516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10 кликабельных сценариев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D35D2-2945-4356-B46A-14DE330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Сценарии помогают за несколько минут показать весь продуктовый контур от создания ордера до решения апелляции.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FC3ED-ED38-4FBB-8D6A-9142679D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623C1-3B95-4AAB-9BD4-ED4CA7A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8E3DD-E3FE-4119-8E31-48F8E060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04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Создание ордера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FB729-3785-4DF1-98EB-5B0F3EA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68D4F-E7FB-4149-9811-6593914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534BA-80E2-479D-B0FE-177FE99E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Назначение реквизитов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D45A9-B3CB-4E09-8B57-C6A9EBE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5F7C0-C9DB-4669-96FA-E2F5517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51E2F-4627-4FED-B287-7D7D383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Проведение статусов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0B197-7332-4588-8A68-D84F320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DBFC2-833F-4068-B1EB-479466F0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EE746-AC7E-44D9-B803-97698250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Начисление баланса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889E7-F174-4B49-8C6D-29C77B55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974D9-D1C2-4BE7-952E-2DA50218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00F83-1A8B-43E0-B1D4-EA0FF48D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Создание выплаты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5B489-E493-4C13-9EE5-ED6FF45A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B2F26-CDF5-4BE6-ABA4-8813445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337444-B5E3-4CB5-82A0-B9978B2C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Подтверждение выплаты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CDD25-A886-4C3C-9539-388000F7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0AE2A-EC37-412B-A6D9-5FF848CC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53319-8C64-4BD9-9496-6D92F08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Заморозка спора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F1C6B4-87A1-4B5C-B3DB-02C5C3E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86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FA633-2756-4F8B-81DE-154B729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FADEE8-7B87-4143-8072-2539D01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Создание апелляции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B40908-D548-43A8-AFAB-48BB0A49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1270B6-99B2-417F-8D3E-23BC18A3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0A869-E808-4184-A725-1BFAFE87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57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Рассмотрение support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91C606-9602-4657-8081-824E16A6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F7544-3CE4-419B-83E7-D8C15865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42ED0E-AE94-45CB-9582-17193AC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1F"/>
                </a:solidFill>
              </a:defRPr>
            </a:pPr>
            <a:r>
              <a:rPr sz="1200" b="1">
                <a:solidFill>
                  <a:srgbClr val="14241F"/>
                </a:solidFill>
              </a:rPr>
              <a:t>Финальное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525841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7D4DA9-401E-4528-B0C3-4A6B5ED85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7BA4C-F598-4613-B3D4-476FD93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63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D9629-C124-4DFA-8D85-BB59FC7F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D43E8-F7E1-4D6B-8266-B2093F71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3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2E99D-EE5D-4ABE-A53C-3D03D1D3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7FF11-7DA7-4858-8229-AECE259B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83F"/>
                </a:solidFill>
              </a:defRPr>
            </a:pPr>
            <a:r>
              <a:rPr sz="975" b="1">
                <a:solidFill>
                  <a:srgbClr val="17483F"/>
                </a:solidFill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7AEB7-3760-4B82-A442-B01717C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C"/>
                </a:solidFill>
              </a:defRPr>
            </a:pPr>
            <a:r>
              <a:rPr sz="975" b="1">
                <a:solidFill>
                  <a:srgbClr val="0D766C"/>
                </a:solidFill>
              </a:rPr>
              <a:t>09 · ЦЕННОСТЬ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3F8CD-8962-48AF-820F-D9D9D473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E1A46-67EE-4D72-BB1F-D91B858F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41F"/>
                </a:solidFill>
              </a:defRPr>
            </a:pPr>
            <a:r>
              <a:rPr sz="2925" b="1">
                <a:solidFill>
                  <a:srgbClr val="14241F"/>
                </a:solidFill>
              </a:rPr>
              <a:t>Зачем это партнеру или инвестору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4C6EC-9085-432C-9864-185896AD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Прототип снижает неопределенность: можно увидеть продукт, пройти сценарии, обсудить логику и согласовать следующий этап разработки.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0A8BB-C7EC-41BC-BD09-DAC472A7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6AA2D-A756-4B04-8184-674A876F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0FAD5-B621-4CC1-9F94-34EE18DE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00A42-3263-4188-9289-4BE97DD3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B1DF8-BEC9-4217-83D1-85F8941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766C"/>
                </a:solidFill>
              </a:defRPr>
            </a:pPr>
            <a:r>
              <a:rPr sz="1125" b="1">
                <a:solidFill>
                  <a:srgbClr val="0D766C"/>
                </a:solidFill>
              </a:rPr>
              <a:t>Быстрое понимание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5311F-DD4F-46C9-89C3-33029F1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Продукт можно объяснить без длинных документов и схем в отрыве от интерфейса.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4AE86-71EF-4A55-AE12-02090C7A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C79F4-D914-4204-9755-1F0D826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0B22D-6023-42E9-8027-93D8185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8F7D9-8F12-4783-9276-4172FD00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6FB2B-2358-4A43-B9EA-A267C2C5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863B"/>
                </a:solidFill>
              </a:defRPr>
            </a:pPr>
            <a:r>
              <a:rPr sz="1125" b="1">
                <a:solidFill>
                  <a:srgbClr val="B5863B"/>
                </a:solidFill>
              </a:rPr>
              <a:t>Проверка гипотез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B9AE2-31ED-4465-B303-A5592514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Сценарии на мок-данных помогают заметить спорные места в логике до production-разработки.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86B11-1D7D-4CC9-8F29-8E654526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AF6">
              <a:alpha val="91765"/>
            </a:srgbClr>
          </a:solidFill>
          <a:ln xmlns:a="http://schemas.openxmlformats.org/drawingml/2006/main" w="11430">
            <a:solidFill>
              <a:srgbClr val="14241F">
                <a:alpha val="1254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8BBC6-1796-44EB-A763-CC7E3136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95C42-10F1-4CBF-B91F-512C5157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1F">
                <a:alpha val="941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1854F-52FA-4043-8AB6-99737D12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ACC5A-48DB-47A2-95FC-0D19B49C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83F"/>
                </a:solidFill>
              </a:defRPr>
            </a:pPr>
            <a:r>
              <a:rPr sz="1125" b="1">
                <a:solidFill>
                  <a:srgbClr val="17483F"/>
                </a:solidFill>
              </a:rPr>
              <a:t>База для roadmap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770E0-9672-422A-AC2C-ECAD1BFC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705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3B"/>
                </a:solidFill>
              </a:defRPr>
            </a:pPr>
            <a:r>
              <a:rPr sz="1275" b="0">
                <a:solidFill>
                  <a:srgbClr val="31413B"/>
                </a:solidFill>
              </a:rPr>
              <a:t>На основе прототипа проще оценить приоритеты, роли, интеграции и требования к безопасности.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8E7F1-26F4-4F12-92CF-7D569F58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13B"/>
                </a:solidFill>
              </a:defRPr>
            </a:pPr>
            <a:r>
              <a:rPr sz="1200" b="0">
                <a:solidFill>
                  <a:srgbClr val="31413B"/>
                </a:solidFill>
              </a:rPr>
              <a:t>Следующий этап: авторизация, RBAC, загрузка файлов, графики, расширенная маршрутизация и реальные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1877990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2026-05-07T07:56:53.9800000Z</dcterms:created>
  <dcterms:modified xsi:type="dcterms:W3CDTF">2026-05-07T07:56:53.9800000Z</dcterms:modified>
</coreProperties>
</file>